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7F9FC', padding: 40 }}&gt;&#10;  &lt;Box style={{ height: 72, background: '#0E3F8C', padding: 18, justifyContent: 'center' }}&gt;&#10;    &lt;Text style={{ fontSize: 22, color: '#FFFFFF', fontWeight: 'bold' }}&gt;教育 AI 增量价值评价｜现场答辩&lt;/Text&gt;&#10;  &lt;/Box&gt;&#10;  &lt;Box style={{ height: 500, padding: 54, justifyContent: 'center', gap: 24 }}&gt;&#10;    &lt;Text style={{ fontSize: 42, color: '#0E3F8C', fontWeight: 'bold', lineHeight: 1.2 }}&gt;观察到的结果，不等于可靠证据&lt;/Text&gt;&#10;    &lt;Text style={{ fontSize: 25, color: '#4A5568', lineHeight: 1.45 }}&gt;当证据缺失、冲突或可信度不同，如何避免把 Raw Signal 直接当成可信结论？&lt;/Text&gt;&#10;    &lt;Box style={{ background: '#E8EFF8', border: '2px solid #1E4FA8', padding: 28, width: 900 }}&gt;&#10;      &lt;Text style={{ fontSize: 34, color: '#1E4FA8', fontWeight: 'bold' }}&gt;Score Stability ≠ Evidence Support Stability&lt;/Text&gt;&#10;      &lt;Text style={{ fontSize: 22, color: '#1A2230', marginTop: 12 }}&gt;分数稳定，不等于证据支撑稳定&lt;/Text&gt;&#10;    &lt;/Box&gt;&#10;    &lt;Text style={{ fontSize: 18, color: '#8B97A8' }}&gt;AI_PROVISIONAL · DEVELOPMENT_ONLY · NOT_HUMAN_VALIDATED&lt;/Text&gt;&#10;  &lt;/Box&gt;&#10;  &lt;Box style={{ height: 40, flexDirection: 'row', justifyContent: 'space-between', alignItems: 'center' }}&gt;&#10;    &lt;Text style={{ fontSize: 14, color: '#8B97A8' }}&gt;PPT_FINAL_CONVERGENCE&lt;/Text&gt;&lt;Text style={{ fontSize: 14, color: '#0E3F8C' }}&gt;01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81000" y="381000"/>
            <a:ext cx="11430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52450" y="600075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增量价值评价｜现场答辩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95350" y="1857375"/>
            <a:ext cx="104013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观察到的结果，不等于可靠证据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95350" y="2667000"/>
            <a:ext cx="104013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当证据缺失、冲突或可信度不同，如何避免把</a:t>
            </a:r>
            <a:r>
              <a:rPr lang="en-US" sz="1875">
                <a:solidFill>
                  <a:srgbClr val="4A5568"/>
                </a:solidFill>
                <a:latin typeface="Microsoft YaHei"/>
                <a:ea typeface="Microsoft YaHei"/>
              </a:rPr>
              <a:t> Raw Signal </a:t>
            </a: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直接当成可信结论？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95350" y="3314700"/>
            <a:ext cx="8572500" cy="1295400"/>
          </a:xfrm>
          <a:prstGeom prst="rect">
            <a:avLst/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62050" y="3581400"/>
            <a:ext cx="803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62050" y="4086225"/>
            <a:ext cx="803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分数稳定，不等于证据支撑稳定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95350" y="4838700"/>
            <a:ext cx="1040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PPT_FINAL_CONVERGENCE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3538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01 / 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4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为什么 Raw Signal 不够&lt;/Text&gt;&lt;Text style={{ fontSize: 18, color: '#4A5568', marginTop: 6 }}&gt;表现水平与证据支持必须分开报告&lt;/Text&gt;&lt;/Box&gt;&#10;  &lt;Box style={{ height: 510, flexDirection: 'row', gap: 28, paddingTop: 18 }}&gt;&#10;    &lt;Box style={{ width: 700, height: 480, border: '1px solid #D6DCE5', padding: 12, background: '#F7F9FC' }}&gt;&lt;Image src=&quot;assets/F2_raw_vs_adjusted.svg&quot; style={{ width: 676, height: 456, objectFit: 'contain' }} /&gt;&lt;/Box&gt;&#10;    &lt;Box style={{ width: 460, height: 480, padding: 22, gap: 20, background: '#F0F5FC' }}&gt;&#10;      &lt;Text style={{ fontSize: 27, color: '#0E3F8C', fontWeight: 'bold' }}&gt;两个独立问题&lt;/Text&gt;&#10;      &lt;Text style={{ fontSize: 23, color: '#1A2230', lineHeight: 1.45 }}&gt;Raw Signal：观察到的表现水平&lt;/Text&gt;&#10;      &lt;Text style={{ fontSize: 23, color: '#1A2230', lineHeight: 1.45 }}&gt;Evidence Reliability：这些观察能否支撑结论&lt;/Text&gt;&#10;      &lt;Box style={{ borderLeft: '5px solid #D9534F', paddingLeft: 16 }}&gt;&lt;Text style={{ fontSize: 22, color: '#D9534F', lineHeight: 1.45 }}&gt;归一化分数不变，不代表支持范围不变&lt;/Text&gt;&lt;/Box&gt;&#10;    &lt;/Box&gt;&#10;  &lt;/Box&gt;&#10;  &lt;Box style={{ height: 40, flexDirection: 'row', justifyContent: 'space-between', alignItems: 'center' }}&gt;&lt;Text style={{ fontSize: 14, color: '#8B97A8' }}&gt;冻结图 F2 · Raw vs Adjusted&lt;/Text&gt;&lt;Text style={{ fontSize: 14, color: '#0E3F8C' }}&gt;02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Raw Signal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不够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表现水平与证据支持必须分开报告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81000" y="1390650"/>
            <a:ext cx="66675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761" t="0" r="6761" b="0"/>
          <a:stretch>
            <a:fillRect/>
          </a:stretch>
        </p:blipFill>
        <p:spPr>
          <a:xfrm rot="0" flipH="0" flipV="0">
            <a:off x="495300" y="1504950"/>
            <a:ext cx="6438900" cy="4343400"/>
          </a:xfrm>
          <a:prstGeom prst="rect">
            <a:avLst/>
          </a:prstGeom>
          <a:ln/>
        </p:spPr>
      </p:pic>
      <p:sp>
        <p:nvSpPr>
          <p:cNvPr id="191" name=""/>
          <p:cNvSpPr/>
          <p:nvPr/>
        </p:nvSpPr>
        <p:spPr>
          <a:xfrm rot="0" flipH="0" flipV="0">
            <a:off x="7315200" y="1390650"/>
            <a:ext cx="4381500" cy="457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3962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两个独立问题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Raw Signal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：观察到的表现水平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524750" y="268605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Evidence Reliability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：这些观察能否支撑结论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524750" y="3648075"/>
            <a:ext cx="4010025" cy="371475"/>
          </a:xfrm>
          <a:custGeom>
            <a:pathLst>
              <a:path w="421" h="39">
                <a:moveTo>
                  <a:pt x="0" y="0"/>
                </a:moveTo>
                <a:lnTo>
                  <a:pt x="5" y="0"/>
                </a:lnTo>
                <a:lnTo>
                  <a:pt x="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724775" y="3648075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归一化分数不变，不代表支持范围不变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F2 · Raw vs Adjusted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9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Reliability-aware evaluation&lt;/Text&gt;&lt;Text style={{ fontSize: 18, color: '#4A5568', marginTop: 6 }}&gt;从观察证据到可审查决策&lt;/Text&gt;&lt;/Box&gt;&#10;  &lt;Box style={{ height: 472, paddingTop: 16, background: '#F7F9FC' }}&gt;&lt;Image src=&quot;assets/F1_model_flow.svg&quot; style={{ width: 1200, height: 450, objectFit: 'contain' }} /&gt;&lt;/Box&gt;&#10;  &lt;Box style={{ height: 68, background: '#E8EFF8', padding: 14, justifyContent: 'center' }}&gt;&lt;Text style={{ fontSize: 21, color: '#0E3F8C' }}&gt;wᵢ = I(observableᵢ) · cᵢ · (1 − λprompt·pᵢ) · (1 − λcontext·tᵢ)　　Adjustedᵢ = Rawᵢ × wᵢ　　Ceff = Σwᵢ / N&lt;/Text&gt;&lt;/Box&gt;&#10;  &lt;Box style={{ height: 40, flexDirection: 'row', justifyContent: 'space-between', alignItems: 'center' }}&gt;&lt;Text style={{ fontSize: 14, color: '#8B97A8' }}&gt;R 是支持权重，不是校准概率；无证据时 fail-closed&lt;/Text&gt;&lt;Text style={{ fontSize: 14, color: '#0E3F8C' }}&gt;03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Reliability-aware evaluation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从观察证据到可审查决策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81000" y="1219200"/>
            <a:ext cx="11430000" cy="4495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7857" r="0" b="17857"/>
          <a:stretch>
            <a:fillRect/>
          </a:stretch>
        </p:blipFill>
        <p:spPr>
          <a:xfrm rot="0" flipH="0" flipV="0">
            <a:off x="381000" y="1371600"/>
            <a:ext cx="11430000" cy="4286250"/>
          </a:xfrm>
          <a:prstGeom prst="rect">
            <a:avLst/>
          </a:prstGeom>
          <a:ln/>
        </p:spPr>
      </p:pic>
      <p:sp>
        <p:nvSpPr>
          <p:cNvPr id="206" name=""/>
          <p:cNvSpPr/>
          <p:nvPr/>
        </p:nvSpPr>
        <p:spPr>
          <a:xfrm rot="0" flipH="0" flipV="0">
            <a:off x="381000" y="5715000"/>
            <a:ext cx="114300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14350" y="5915025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wᵢ = I(observableᵢ) · cᵢ · (1 − λprompt·pᵢ) · (1 − λcontext·tᵢ)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Adjustedᵢ = Rawᵢ × wᵢ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Ceff = Σwᵢ / N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是支持权重，不是校准概率；无证据时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fail-closed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3538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0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Development slice：70 条记录，只有 16 条可判读&lt;/Text&gt;&lt;/Box&gt;&#10;  &lt;Box style={{ height: 510, flexDirection: 'row', gap: 28, paddingTop: 18 }}&gt;&#10;    &lt;Box style={{ width: 300, height: 470, background: '#0E3F8C', padding: 24, gap: 18, justifyContent: 'center' }}&gt;&lt;Text style={{ fontSize: 72, color: '#FFFFFF', fontWeight: 'bold' }}&gt;70&lt;/Text&gt;&lt;Text style={{ fontSize: 24, color: '#FFFFFF' }}&gt;AI provisional records&lt;/Text&gt;&lt;Box style={{ height: 1, background: '#8EB5F0' }} /&gt;&lt;Text style={{ fontSize: 21, color: '#DCEBFF', lineHeight: 1.4 }}&gt;16 readable&lt;br /&gt;19 NO_EVIDENCE&lt;br /&gt;35 UNDETERMINED&lt;br /&gt;54 NO_EFFECTIVE_EVIDENCE&lt;/Text&gt;&lt;/Box&gt;&#10;    &lt;Box style={{ width: 872, height: 470, border: '1px solid #D6DCE5', padding: 12, background: '#F7F9FC' }}&gt;&lt;Image src=&quot;assets/F3_evidence_degradation.svg&quot; style={{ width: 846, height: 446, objectFit: 'contain' }} /&gt;&lt;/Box&gt;&#10;  &lt;/Box&gt;&#10;  &lt;Box style={{ height: 40, flexDirection: 'row', justifyContent: 'space-between', alignItems: 'center' }}&gt;&lt;Text style={{ fontSize: 14, color: '#D9534F' }}&gt;54 不是 54 个零分，而是没有有效证据支持数值判断&lt;/Text&gt;&lt;Text style={{ fontSize: 14, color: '#0E3F8C' }}&gt;04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Development slice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70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条记录，只有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条可判读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1390650"/>
            <a:ext cx="28575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AI provisional records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3419475"/>
            <a:ext cx="2400300" cy="9525"/>
          </a:xfrm>
          <a:prstGeom prst="rect">
            <a:avLst/>
          </a:prstGeom>
          <a:solidFill>
            <a:srgbClr val="8EB5F0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466975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16 readable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19 NO_EVIDENCE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35 UNDETERMINED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54 NO_EFFECTIVE_EVIDENCE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505200" y="1390650"/>
            <a:ext cx="83058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4812" r="0" b="4812"/>
          <a:stretch>
            <a:fillRect/>
          </a:stretch>
        </p:blipFill>
        <p:spPr>
          <a:xfrm rot="0" flipH="0" flipV="0">
            <a:off x="3619500" y="1504950"/>
            <a:ext cx="8058150" cy="42481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个零分，而是没有有效证据支持数值判断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3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公共缩放退化：分数不动，但支持下降&lt;/Text&gt;&lt;Text style={{ fontSize: 18, color: '#4A5568', marginTop: 6 }}&gt;稳定的归一化 score 不能替代稳定的 evidence support&lt;/Text&gt;&lt;/Box&gt;&#10;  &lt;Box style={{ height: 500, flexDirection: 'row', gap: 28, paddingTop: 18 }}&gt;&#10;    &lt;Box style={{ width: 770, height: 470, border: '1px solid #D6DCE5', padding: 12, background: '#F7F9FC' }}&gt;&lt;Image src=&quot;assets/F4_parameter_perturbation.svg&quot; style={{ width: 744, height: 444, objectFit: 'contain' }} /&gt;&lt;/Box&gt;&#10;    &lt;Box style={{ width: 402, height: 470, padding: 24, gap: 18, background: '#F0F5FC' }}&gt;&lt;Text style={{ fontSize: 25, color: '#0E3F8C', fontWeight: 'bold' }}&gt;锁定机制&lt;/Text&gt;&lt;Text style={{ fontSize: 21, color: '#1A2230', lineHeight: 1.4 }}&gt;16 条可判读记录共享：&lt;/Text&gt;&lt;Text style={{ fontSize: 21, color: '#1A2230', lineHeight: 1.4 }}&gt;prompt=true&lt;br /&gt;context=false&lt;br /&gt;confidence=medium&lt;br /&gt;R = 0.375&lt;/Text&gt;&lt;Box style={{ borderTop: '2px solid #1E4FA8', paddingTop: 14 }}&gt;&lt;Text style={{ fontSize: 21, color: '#1E4FA8', fontWeight: 'bold' }}&gt;weight：16 → 12 → 6 → 6&lt;/Text&gt;&lt;Text style={{ fontSize: 21, color: '#1E4FA8', fontWeight: 'bold', marginTop: 8 }}&gt;coverage：0.228571 → 0.085714&lt;/Text&gt;&lt;/Box&gt;&lt;/Box&gt;&#10;  &lt;/Box&gt;&#10;  &lt;Box style={{ height: 50, flexDirection: 'row', justifyContent: 'space-between', alignItems: 'center' }}&gt;&lt;Text style={{ fontSize: 17, color: '#4A5568' }}&gt;ABL / HOT / Gap = 3.5625 / 0.375 / 1.125（Raw=Adjusted，不是提升）&lt;/Text&gt;&lt;Text style={{ fontSize: 14, color: '#0E3F8C' }}&gt;05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230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style={{ width: 1280, height: 720, background: '#F7F9FC', padding: 40 }}&gt;&#10;  &lt;Box style={{ height: 72, background: '#0E3F8C', padding: 18, justifyContent: 'center' }}&gt;&#10;    &lt;Text style={{ fontSize: 22, color: '#FFFFFF', fontWeight: 'bold' }}&gt;教育 AI 增量价值评价｜现场答辩&lt;/Text&gt;&#10;  &lt;/Box&gt;&#10;  &lt;Box style={{ height: 500, padding: 54, justifyContent: 'center', gap: 24 }}&gt;&#10;    &lt;Text style={{ fontSize: 42, color: '#0E3F8C', fontWeight: 'bold', lineHeight: 1.2 }}&gt;观察到的结果，不等于可靠证据&lt;/Text&gt;&#10;    &lt;Text style={{ fontSize: 25, color: '#4A5568', lineHeight: 1.45 }}&gt;当证据缺失、冲突或可信度不同，如何避免把 Raw Signal 直接当成可信结论？&lt;/Text&gt;&#10;    &lt;Box style={{ background: '#E8EFF8', border: '2px solid #1E4FA8', padding: 28, width: 900 }}&gt;&#10;      &lt;Text style={{ fontSize: 34, color: '#1E4FA8', fontWeight: 'bold' }}&gt;Score Stability ≠ Evidence Support Stability&lt;/Text&gt;&#10;      &lt;Text style={{ fontSize: 22, color: '#1A2230', marginTop: 12 }}&gt;分数稳定，不等于证据支撑稳定&lt;/Text&gt;&#10;    &lt;/Box&gt;&#10;    &lt;Text style={{ fontSize: 18, color: '#8B97A8' }}&gt;AI_PROVISIONAL · DEVELOPMENT_ONLY · NOT_HUMAN_VALIDATED&lt;/Text&gt;&#10;  &lt;/Box&gt;&#10;  &lt;Box style={{ height: 40, flexDirection: 'row', justifyContent: 'space-between', alignItems: 'center' }}&gt;&#10;    &lt;Text style={{ fontSize: 14, color: '#8B97A8' }}&gt;PPT_FINAL_CONVERGENCE&lt;/Text&gt;&lt;Text style={{ fontSize: 14, color: '#0E3F8C' }}&gt;01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381000" y="381000"/>
            <a:ext cx="11430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2450" y="600075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增量价值评价｜现场答辩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95350" y="1857375"/>
            <a:ext cx="104013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观察到的结果，不等于可靠证据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95350" y="2667000"/>
            <a:ext cx="104013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当证据缺失、冲突或可信度不同，如何避免把</a:t>
            </a:r>
            <a:r>
              <a:rPr lang="en-US" sz="1875">
                <a:solidFill>
                  <a:srgbClr val="4A5568"/>
                </a:solidFill>
                <a:latin typeface="Microsoft YaHei"/>
                <a:ea typeface="Microsoft YaHei"/>
              </a:rPr>
              <a:t> Raw Signal </a:t>
            </a: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直接当成可信结论？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95350" y="3314700"/>
            <a:ext cx="8572500" cy="1295400"/>
          </a:xfrm>
          <a:prstGeom prst="rect">
            <a:avLst/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62050" y="3581400"/>
            <a:ext cx="803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62050" y="4086225"/>
            <a:ext cx="803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分数稳定，不等于证据支撑稳定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95350" y="4838700"/>
            <a:ext cx="1040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PPT_FINAL_CONVERGENCE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3538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01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1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为什么 Raw Signal 不够&lt;/Text&gt;&lt;Text style={{ fontSize: 18, color: '#4A5568', marginTop: 6 }}&gt;表现水平与证据支持必须分开报告&lt;/Text&gt;&lt;/Box&gt;&#10;  &lt;Box style={{ height: 510, flexDirection: 'row', gap: 28, paddingTop: 18 }}&gt;&#10;    &lt;Box style={{ width: 700, height: 480, border: '1px solid #D6DCE5', padding: 12, background: '#F7F9FC' }}&gt;&lt;Image src=&quot;assets/F2_raw_vs_adjusted.svg&quot; style={{ width: 676, height: 456, objectFit: 'contain' }} /&gt;&lt;/Box&gt;&#10;    &lt;Box style={{ width: 460, height: 480, padding: 22, gap: 20, background: '#F0F5FC' }}&gt;&#10;      &lt;Text style={{ fontSize: 27, color: '#0E3F8C', fontWeight: 'bold' }}&gt;两个独立问题&lt;/Text&gt;&#10;      &lt;Text style={{ fontSize: 23, color: '#1A2230', lineHeight: 1.45 }}&gt;Raw Signal：观察到的表现水平&lt;/Text&gt;&#10;      &lt;Text style={{ fontSize: 23, color: '#1A2230', lineHeight: 1.45 }}&gt;Evidence Reliability：这些观察能否支撑结论&lt;/Text&gt;&#10;      &lt;Box style={{ borderLeft: '5px solid #D9534F', paddingLeft: 16 }}&gt;&lt;Text style={{ fontSize: 22, color: '#D9534F', lineHeight: 1.45 }}&gt;归一化分数不变，不代表支持范围不变&lt;/Text&gt;&lt;/Box&gt;&#10;    &lt;/Box&gt;&#10;  &lt;/Box&gt;&#10;  &lt;Box style={{ height: 40, flexDirection: 'row', justifyContent: 'space-between', alignItems: 'center' }}&gt;&lt;Text style={{ fontSize: 14, color: '#8B97A8' }}&gt;冻结图 F2 · Raw vs Adjusted&lt;/Text&gt;&lt;Text style={{ fontSize: 14, color: '#0E3F8C' }}&gt;02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Raw Signal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不够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表现水平与证据支持必须分开报告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81000" y="1390650"/>
            <a:ext cx="66675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761" t="0" r="6761" b="0"/>
          <a:stretch>
            <a:fillRect/>
          </a:stretch>
        </p:blipFill>
        <p:spPr>
          <a:xfrm rot="0" flipH="0" flipV="0">
            <a:off x="495300" y="1504950"/>
            <a:ext cx="6438900" cy="4343400"/>
          </a:xfrm>
          <a:prstGeom prst="rect">
            <a:avLst/>
          </a:prstGeom>
          <a:ln/>
        </p:spPr>
      </p:pic>
      <p:sp>
        <p:nvSpPr>
          <p:cNvPr id="258" name=""/>
          <p:cNvSpPr/>
          <p:nvPr/>
        </p:nvSpPr>
        <p:spPr>
          <a:xfrm rot="0" flipH="0" flipV="0">
            <a:off x="7315200" y="1390650"/>
            <a:ext cx="4381500" cy="457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3962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两个独立问题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Raw Signal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：观察到的表现水平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524750" y="268605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Evidence Reliability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：这些观察能否支撑结论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524750" y="3648075"/>
            <a:ext cx="4010025" cy="371475"/>
          </a:xfrm>
          <a:custGeom>
            <a:pathLst>
              <a:path w="421" h="39">
                <a:moveTo>
                  <a:pt x="0" y="0"/>
                </a:moveTo>
                <a:lnTo>
                  <a:pt x="5" y="0"/>
                </a:lnTo>
                <a:lnTo>
                  <a:pt x="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724775" y="3648075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归一化分数不变，不代表支持范围不变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F2 · Raw vs Adjusted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6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Reliability-aware evaluation&lt;/Text&gt;&lt;Text style={{ fontSize: 18, color: '#4A5568', marginTop: 6 }}&gt;从观察证据到可审查决策&lt;/Text&gt;&lt;/Box&gt;&#10;  &lt;Box style={{ height: 472, paddingTop: 16, background: '#F7F9FC' }}&gt;&lt;Image src=&quot;assets/F1_model_flow.svg&quot; style={{ width: 1200, height: 450, objectFit: 'contain' }} /&gt;&lt;/Box&gt;&#10;  &lt;Box style={{ height: 68, background: '#E8EFF8', padding: 14, justifyContent: 'center' }}&gt;&lt;Text style={{ fontSize: 21, color: '#0E3F8C' }}&gt;wᵢ = I(observableᵢ) · cᵢ · (1 − λprompt·pᵢ) · (1 − λcontext·tᵢ)　　Adjustedᵢ = Rawᵢ × wᵢ　　Ceff = Σwᵢ / N&lt;/Text&gt;&lt;/Box&gt;&#10;  &lt;Box style={{ height: 40, flexDirection: 'row', justifyContent: 'space-between', alignItems: 'center' }}&gt;&lt;Text style={{ fontSize: 14, color: '#8B97A8' }}&gt;R 是支持权重，不是校准概率；无证据时 fail-closed&lt;/Text&gt;&lt;Text style={{ fontSize: 14, color: '#0E3F8C' }}&gt;03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Reliability-aware evaluation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从观察证据到可审查决策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381000" y="1219200"/>
            <a:ext cx="11430000" cy="4495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7857" r="0" b="17857"/>
          <a:stretch>
            <a:fillRect/>
          </a:stretch>
        </p:blipFill>
        <p:spPr>
          <a:xfrm rot="0" flipH="0" flipV="0">
            <a:off x="381000" y="1371600"/>
            <a:ext cx="11430000" cy="4286250"/>
          </a:xfrm>
          <a:prstGeom prst="rect">
            <a:avLst/>
          </a:prstGeom>
          <a:ln/>
        </p:spPr>
      </p:pic>
      <p:sp>
        <p:nvSpPr>
          <p:cNvPr id="273" name=""/>
          <p:cNvSpPr/>
          <p:nvPr/>
        </p:nvSpPr>
        <p:spPr>
          <a:xfrm rot="0" flipH="0" flipV="0">
            <a:off x="381000" y="5715000"/>
            <a:ext cx="114300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14350" y="5915025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wᵢ = I(observableᵢ) · cᵢ · (1 − λprompt·pᵢ) · (1 − λcontext·tᵢ)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Adjustedᵢ = Rawᵢ × wᵢ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Ceff = Σwᵢ / N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是支持权重，不是校准概率；无证据时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fail-closed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3538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7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Development slice：70 条记录，只有 16 条可判读&lt;/Text&gt;&lt;/Box&gt;&#10;  &lt;Box style={{ height: 510, flexDirection: 'row', gap: 28, paddingTop: 18 }}&gt;&#10;    &lt;Box style={{ width: 300, height: 470, background: '#0E3F8C', padding: 24, gap: 18, justifyContent: 'center' }}&gt;&lt;Text style={{ fontSize: 72, color: '#FFFFFF', fontWeight: 'bold' }}&gt;70&lt;/Text&gt;&lt;Text style={{ fontSize: 24, color: '#FFFFFF' }}&gt;AI provisional records&lt;/Text&gt;&lt;Box style={{ height: 1, background: '#8EB5F0' }} /&gt;&lt;Text style={{ fontSize: 21, color: '#DCEBFF', lineHeight: 1.4 }}&gt;16 readable&lt;br /&gt;19 NO_EVIDENCE&lt;br /&gt;35 UNDETERMINED&lt;br /&gt;54 NO_EFFECTIVE_EVIDENCE&lt;/Text&gt;&lt;/Box&gt;&#10;    &lt;Box style={{ width: 872, height: 470, border: '1px solid #D6DCE5', padding: 12, background: '#F7F9FC' }}&gt;&lt;Image src=&quot;assets/F3_evidence_degradation.svg&quot; style={{ width: 846, height: 446, objectFit: 'contain' }} /&gt;&lt;/Box&gt;&#10;  &lt;/Box&gt;&#10;  &lt;Box style={{ height: 40, flexDirection: 'row', justifyContent: 'space-between', alignItems: 'center' }}&gt;&lt;Text style={{ fontSize: 14, color: '#D9534F' }}&gt;54 不是 54 个零分，而是没有有效证据支持数值判断&lt;/Text&gt;&lt;Text style={{ fontSize: 14, color: '#0E3F8C' }}&gt;04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Development slice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70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条记录，只有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条可判读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381000" y="1390650"/>
            <a:ext cx="28575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AI provisional records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3419475"/>
            <a:ext cx="2400300" cy="9525"/>
          </a:xfrm>
          <a:prstGeom prst="rect">
            <a:avLst/>
          </a:prstGeom>
          <a:solidFill>
            <a:srgbClr val="8EB5F0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466975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16 readable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19 NO_EVIDENCE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35 UNDETERMINED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54 NO_EFFECTIVE_EVIDENCE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3505200" y="1390650"/>
            <a:ext cx="83058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4812" r="0" b="4812"/>
          <a:stretch>
            <a:fillRect/>
          </a:stretch>
        </p:blipFill>
        <p:spPr>
          <a:xfrm rot="0" flipH="0" flipV="0">
            <a:off x="3619500" y="1504950"/>
            <a:ext cx="8058150" cy="424815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个零分，而是没有有效证据支持数值判断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公共缩放退化：分数不动，但支持下降&lt;/Text&gt;&lt;Text style={{ fontSize: 18, color: '#4A5568', marginTop: 6 }}&gt;稳定的归一化 score 不能替代稳定的 evidence support&lt;/Text&gt;&lt;/Box&gt;&#10;  &lt;Box style={{ height: 500, flexDirection: 'row', gap: 28, paddingTop: 18 }}&gt;&#10;    &lt;Box style={{ width: 770, height: 470, border: '1px solid #D6DCE5', padding: 12, background: '#F7F9FC' }}&gt;&lt;Image src=&quot;assets/F4_parameter_perturbation.svg&quot; style={{ width: 744, height: 444, objectFit: 'contain' }} /&gt;&lt;/Box&gt;&#10;    &lt;Box style={{ width: 402, height: 470, padding: 24, gap: 18, background: '#F0F5FC' }}&gt;&lt;Text style={{ fontSize: 25, color: '#0E3F8C', fontWeight: 'bold' }}&gt;锁定机制&lt;/Text&gt;&lt;Text style={{ fontSize: 21, color: '#1A2230', lineHeight: 1.4 }}&gt;16 条可判读记录共享：&lt;/Text&gt;&lt;Text style={{ fontSize: 21, color: '#1A2230', lineHeight: 1.4 }}&gt;prompt=true&lt;br /&gt;context=false&lt;br /&gt;confidence=medium&lt;br /&gt;R = 0.375&lt;/Text&gt;&lt;Box style={{ borderTop: '2px solid #1E4FA8', paddingTop: 14 }}&gt;&lt;Text style={{ fontSize: 21, color: '#1E4FA8', fontWeight: 'bold' }}&gt;weight：16 → 12 → 6 → 6&lt;/Text&gt;&lt;Text style={{ fontSize: 21, color: '#1E4FA8', fontWeight: 'bold', marginTop: 8 }}&gt;coverage：0.228571 → 0.085714&lt;/Text&gt;&lt;/Box&gt;&lt;/Box&gt;&#10;  &lt;/Box&gt;&#10;  &lt;Box style={{ height: 50, flexDirection: 'row', justifyContent: 'space-between', alignItems: 'center' }}&gt;&lt;Text style={{ fontSize: 17, color: '#4A5568' }}&gt;ABL / HOT / Gap = 3.5625 / 0.375 / 1.125（Raw=Adjusted，不是提升）&lt;/Text&gt;&lt;Text style={{ fontSize: 14, color: '#0E3F8C' }}&gt;05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9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为什么 Raw Signal 不够&lt;/Text&gt;&lt;Text style={{ fontSize: 18, color: '#4A5568', marginTop: 6 }}&gt;表现水平与证据支持必须分开报告&lt;/Text&gt;&lt;/Box&gt;&#10;  &lt;Box style={{ height: 510, flexDirection: 'row', gap: 28, paddingTop: 18 }}&gt;&#10;    &lt;Box style={{ width: 700, height: 480, border: '1px solid #D6DCE5', padding: 12, background: '#F7F9FC' }}&gt;&lt;Image src=&quot;assets/F2_raw_vs_adjusted.svg&quot; style={{ width: 676, height: 456, objectFit: 'contain' }} /&gt;&lt;/Box&gt;&#10;    &lt;Box style={{ width: 460, height: 480, padding: 22, gap: 20, background: '#F0F5FC' }}&gt;&#10;      &lt;Text style={{ fontSize: 27, color: '#0E3F8C', fontWeight: 'bold' }}&gt;两个独立问题&lt;/Text&gt;&#10;      &lt;Text style={{ fontSize: 23, color: '#1A2230', lineHeight: 1.45 }}&gt;Raw Signal：观察到的表现水平&lt;/Text&gt;&#10;      &lt;Text style={{ fontSize: 23, color: '#1A2230', lineHeight: 1.45 }}&gt;Evidence Reliability：这些观察能否支撑结论&lt;/Text&gt;&#10;      &lt;Box style={{ borderLeft: '5px solid #D9534F', paddingLeft: 16 }}&gt;&lt;Text style={{ fontSize: 22, color: '#D9534F', lineHeight: 1.45 }}&gt;归一化分数不变，不代表支持范围不变&lt;/Text&gt;&lt;/Box&gt;&#10;    &lt;/Box&gt;&#10;  &lt;/Box&gt;&#10;  &lt;Box style={{ height: 40, flexDirection: 'row', justifyContent: 'space-between', alignItems: 'center' }}&gt;&lt;Text style={{ fontSize: 14, color: '#8B97A8' }}&gt;冻结图 F2 · Raw vs Adjusted&lt;/Text&gt;&lt;Text style={{ fontSize: 14, color: '#0E3F8C' }}&gt;02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Raw Signal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不够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表现水平与证据支持必须分开报告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81000" y="1390650"/>
            <a:ext cx="66675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761" t="0" r="6761" b="0"/>
          <a:stretch>
            <a:fillRect/>
          </a:stretch>
        </p:blipFill>
        <p:spPr>
          <a:xfrm rot="0" flipH="0" flipV="0">
            <a:off x="495300" y="1504950"/>
            <a:ext cx="6438900" cy="4343400"/>
          </a:xfrm>
          <a:prstGeom prst="rect">
            <a:avLst/>
          </a:prstGeom>
          <a:ln/>
        </p:spPr>
      </p:pic>
      <p:sp>
        <p:nvSpPr>
          <p:cNvPr id="36" name=""/>
          <p:cNvSpPr/>
          <p:nvPr/>
        </p:nvSpPr>
        <p:spPr>
          <a:xfrm rot="0" flipH="0" flipV="0">
            <a:off x="7315200" y="1390650"/>
            <a:ext cx="4381500" cy="457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3962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两个独立问题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Raw Signal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：观察到的表现水平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524750" y="268605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Evidence Reliability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：这些观察能否支撑结论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524750" y="3648075"/>
            <a:ext cx="4010025" cy="371475"/>
          </a:xfrm>
          <a:custGeom>
            <a:pathLst>
              <a:path w="421" h="39">
                <a:moveTo>
                  <a:pt x="0" y="0"/>
                </a:moveTo>
                <a:lnTo>
                  <a:pt x="5" y="0"/>
                </a:lnTo>
                <a:lnTo>
                  <a:pt x="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724775" y="3648075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归一化分数不变，不代表支持范围不变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F2 · Raw vs Adjusted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4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Reliability-aware evaluation&lt;/Text&gt;&lt;Text style={{ fontSize: 18, color: '#4A5568', marginTop: 6 }}&gt;从观察证据到可审查决策&lt;/Text&gt;&lt;/Box&gt;&#10;  &lt;Box style={{ height: 472, paddingTop: 16, background: '#F7F9FC' }}&gt;&lt;Image src=&quot;assets/F1_model_flow.svg&quot; style={{ width: 1200, height: 450, objectFit: 'contain' }} /&gt;&lt;/Box&gt;&#10;  &lt;Box style={{ height: 68, background: '#E8EFF8', padding: 14, justifyContent: 'center' }}&gt;&lt;Text style={{ fontSize: 21, color: '#0E3F8C' }}&gt;wᵢ = I(observableᵢ) · cᵢ · (1 − λprompt·pᵢ) · (1 − λcontext·tᵢ)　　Adjustedᵢ = Rawᵢ × wᵢ　　Ceff = Σwᵢ / N&lt;/Text&gt;&lt;/Box&gt;&#10;  &lt;Box style={{ height: 40, flexDirection: 'row', justifyContent: 'space-between', alignItems: 'center' }}&gt;&lt;Text style={{ fontSize: 14, color: '#8B97A8' }}&gt;R 是支持权重，不是校准概率；无证据时 fail-closed&lt;/Text&gt;&lt;Text style={{ fontSize: 14, color: '#0E3F8C' }}&gt;03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Reliability-aware evaluation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从观察证据到可审查决策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81000" y="1219200"/>
            <a:ext cx="11430000" cy="4495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7857" r="0" b="17857"/>
          <a:stretch>
            <a:fillRect/>
          </a:stretch>
        </p:blipFill>
        <p:spPr>
          <a:xfrm rot="0" flipH="0" flipV="0">
            <a:off x="381000" y="1371600"/>
            <a:ext cx="11430000" cy="4286250"/>
          </a:xfrm>
          <a:prstGeom prst="rect">
            <a:avLst/>
          </a:prstGeom>
          <a:ln/>
        </p:spPr>
      </p:pic>
      <p:sp>
        <p:nvSpPr>
          <p:cNvPr id="51" name=""/>
          <p:cNvSpPr/>
          <p:nvPr/>
        </p:nvSpPr>
        <p:spPr>
          <a:xfrm rot="0" flipH="0" flipV="0">
            <a:off x="381000" y="5715000"/>
            <a:ext cx="114300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14350" y="5915025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wᵢ = I(observableᵢ) · cᵢ · (1 − λprompt·pᵢ) · (1 − λcontext·tᵢ)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Adjustedᵢ = Rawᵢ × wᵢ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Ceff = Σwᵢ / N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是支持权重，不是校准概率；无证据时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fail-closed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3538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5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Development slice：70 条记录，只有 16 条可判读&lt;/Text&gt;&lt;/Box&gt;&#10;  &lt;Box style={{ height: 510, flexDirection: 'row', gap: 28, paddingTop: 18 }}&gt;&#10;    &lt;Box style={{ width: 300, height: 470, background: '#0E3F8C', padding: 24, gap: 18, justifyContent: 'center' }}&gt;&lt;Text style={{ fontSize: 72, color: '#FFFFFF', fontWeight: 'bold' }}&gt;70&lt;/Text&gt;&lt;Text style={{ fontSize: 24, color: '#FFFFFF' }}&gt;AI provisional records&lt;/Text&gt;&lt;Box style={{ height: 1, background: '#8EB5F0' }} /&gt;&lt;Text style={{ fontSize: 21, color: '#DCEBFF', lineHeight: 1.4 }}&gt;16 readable&lt;br /&gt;19 NO_EVIDENCE&lt;br /&gt;35 UNDETERMINED&lt;br /&gt;54 NO_EFFECTIVE_EVIDENCE&lt;/Text&gt;&lt;/Box&gt;&#10;    &lt;Box style={{ width: 872, height: 470, border: '1px solid #D6DCE5', padding: 12, background: '#F7F9FC' }}&gt;&lt;Image src=&quot;assets/F3_evidence_degradation.svg&quot; style={{ width: 846, height: 446, objectFit: 'contain' }} /&gt;&lt;/Box&gt;&#10;  &lt;/Box&gt;&#10;  &lt;Box style={{ height: 40, flexDirection: 'row', justifyContent: 'space-between', alignItems: 'center' }}&gt;&lt;Text style={{ fontSize: 14, color: '#D9534F' }}&gt;54 不是 54 个零分，而是没有有效证据支持数值判断&lt;/Text&gt;&lt;Text style={{ fontSize: 14, color: '#0E3F8C' }}&gt;04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Development slice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70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条记录，只有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条可判读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" y="1390650"/>
            <a:ext cx="28575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AI provisional records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3419475"/>
            <a:ext cx="2400300" cy="9525"/>
          </a:xfrm>
          <a:prstGeom prst="rect">
            <a:avLst/>
          </a:prstGeom>
          <a:solidFill>
            <a:srgbClr val="8EB5F0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466975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16 readable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19 NO_EVIDENCE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35 UNDETERMINED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54 NO_EFFECTIVE_EVIDENCE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505200" y="1390650"/>
            <a:ext cx="83058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4812" r="0" b="4812"/>
          <a:stretch>
            <a:fillRect/>
          </a:stretch>
        </p:blipFill>
        <p:spPr>
          <a:xfrm rot="0" flipH="0" flipV="0">
            <a:off x="3619500" y="1504950"/>
            <a:ext cx="8058150" cy="42481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个零分，而是没有有效证据支持数值判断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8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公共缩放退化：分数不动，但支持下降&lt;/Text&gt;&lt;Text style={{ fontSize: 18, color: '#4A5568', marginTop: 6 }}&gt;稳定的归一化 score 不能替代稳定的 evidence support&lt;/Text&gt;&lt;/Box&gt;&#10;  &lt;Box style={{ height: 500, flexDirection: 'row', gap: 28, paddingTop: 18 }}&gt;&#10;    &lt;Box style={{ width: 770, height: 470, border: '1px solid #D6DCE5', padding: 12, background: '#F7F9FC' }}&gt;&lt;Image src=&quot;assets/F4_parameter_perturbation.svg&quot; style={{ width: 744, height: 444, objectFit: 'contain' }} /&gt;&lt;/Box&gt;&#10;    &lt;Box style={{ width: 402, height: 470, padding: 24, gap: 18, background: '#F0F5FC' }}&gt;&lt;Text style={{ fontSize: 25, color: '#0E3F8C', fontWeight: 'bold' }}&gt;锁定机制&lt;/Text&gt;&lt;Text style={{ fontSize: 21, color: '#1A2230', lineHeight: 1.4 }}&gt;16 条可判读记录共享：&lt;/Text&gt;&lt;Text style={{ fontSize: 21, color: '#1A2230', lineHeight: 1.4 }}&gt;prompt=true&lt;br /&gt;context=false&lt;br /&gt;confidence=medium&lt;br /&gt;R = 0.375&lt;/Text&gt;&lt;Box style={{ borderTop: '2px solid #1E4FA8', paddingTop: 14 }}&gt;&lt;Text style={{ fontSize: 21, color: '#1E4FA8', fontWeight: 'bold' }}&gt;weight：16 → 12 → 6 → 6&lt;/Text&gt;&lt;Text style={{ fontSize: 21, color: '#1E4FA8', fontWeight: 'bold', marginTop: 8 }}&gt;coverage：0.228571 → 0.085714&lt;/Text&gt;&lt;/Box&gt;&lt;/Box&gt;&#10;  &lt;/Box&gt;&#10;  &lt;Box style={{ height: 50, flexDirection: 'row', justifyContent: 'space-between', alignItems: 'center' }}&gt;&lt;Text style={{ fontSize: 17, color: '#4A5568' }}&gt;ABL / HOT / Gap = 3.5625 / 0.375 / 1.125（Raw=Adjusted，不是提升）&lt;/Text&gt;&lt;Text style={{ fontSize: 14, color: '#0E3F8C' }}&gt;05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75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84" name="" descr="&lt;Slide style={{ width: 1280, height: 720, background: '#F7F9FC', padding: 40 }}&gt;&#10;  &lt;Box style={{ height: 88, borderBottom: '3px solid #1E4FA8', justifyContent: 'center' }}&gt;&lt;Text style={{ fontSize: 36, color: '#0E3F8C', fontWeight: 'bold' }}&gt;五条验证路径，回答同一个问题&lt;/Text&gt;&lt;Text style={{ fontSize: 18, color: '#4A5568', marginTop: 6 }}&gt;当 score 看似稳定时，evidence support 是否也稳定？&lt;/Text&gt;&lt;/Box&gt;&#10;  &lt;Box style={{ height: 420, flexDirection: 'row', gap: 16, paddingTop: 24 }}&gt;&#10;    &lt;Box style={{ width: 224, height: 360, background: '#FFFFFF', border: '1px solid #D6DCE5', padding: 18, gap: 12 }}&gt;&lt;Text style={{ fontSize: 22, color: '#1E4FA8', fontWeight: 'bold' }}&gt;01 Robustness&lt;/Text&gt;&lt;Text style={{ fontSize: 19, color: '#1A2230', lineHeight: 1.4 }}&gt;693 = 21×11×3&lt;br /&gt;660 defined&lt;br /&gt;33 undefined&lt;/Text&gt;&lt;/Box&gt;&#10;    &lt;Box style={{ width: 224, height: 360, background: '#FFFFFF', border: '1px solid #D6DCE5', padding: 18, gap: 12 }}&gt;&lt;Text style={{ fontSize: 22, color: '#1E4FA8', fontWeight: 'bold' }}&gt;02 Perturbation&lt;/Text&gt;&lt;Text style={{ fontSize: 19, color: '#1A2230', lineHeight: 1.4 }}&gt;±10% / ±20%&lt;br /&gt;&lt;span style={{ color: '#D9534F', fontWeight: 'bold' }}&gt;0 flips&lt;/span&gt;&lt;br /&gt;ranking N/A&lt;/Text&gt;&lt;/Box&gt;&#10;    &lt;Box style={{ width: 224, height: 360, background: '#FFFFFF', border: '1px solid #D6DCE5', padding: 18, gap: 12 }}&gt;&lt;Text style={{ fontSize: 22, color: '#1E4FA8', fontWeight: 'bold' }}&gt;03 Ablation&lt;/Text&gt;&lt;Text style={{ fontSize: 19, color: '#1A2230', lineHeight: 1.4 }}&gt;support falls&lt;br /&gt;coverage falls&lt;br /&gt;score can persist&lt;/Text&gt;&lt;/Box&gt;&#10;    &lt;Box style={{ width: 224, height: 360, background: '#FFFFFF', border: '1px solid #D6DCE5', padding: 18, gap: 12 }}&gt;&lt;Text style={{ fontSize: 22, color: '#1E4FA8', fontWeight: 'bold' }}&gt;04 Failure&lt;/Text&gt;&lt;Text style={{ fontSize: 19, color: '#1A2230', lineHeight: 1.4 }}&gt;ABSTAIN&lt;br /&gt;NO_EFFECTIVE_EVIDENCE&lt;br /&gt;not zero&lt;/Text&gt;&lt;/Box&gt;&#10;    &lt;Box style={{ width: 224, height: 360, background: '#FFFFFF', border: '1px solid #D6DCE5', padding: 18, gap: 12 }}&gt;&lt;Text style={{ fontSize: 22, color: '#1E4FA8', fontWeight: 'bold' }}&gt;05 Transfer / ML&lt;/Text&gt;&lt;Text style={{ fontSize: 19, color: '#1A2230', lineHeight: 1.4 }}&gt;constraint&lt;br /&gt;not superiority&lt;br /&gt;not generalization&lt;/Text&gt;&lt;/Box&gt;&#10;  &lt;/Box&gt;&#10;  &lt;Box style={{ height: 90, background: '#0E3F8C', padding: 20, justifyContent: 'center' }}&gt;&lt;Text style={{ fontSize: 27, color: '#FFFFFF', fontWeight: 'bold' }}&gt;五条路径不是五个新主张，而是同一个可审查问题的五种压力测试&lt;/Text&gt;&lt;/Box&gt;&#10;  &lt;Box style={{ height: 40, flexDirection: 'row', justifyContent: 'space-between', alignItems: 'center' }}&gt;&lt;Text style={{ fontSize: 14, color: '#8B97A8' }}&gt;不新增实验解释，只收束既有冻结证据&lt;/Text&gt;&lt;Text style={{ fontSize: 14, color: '#0E3F8C' }}&gt;06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五条验证路径，回答同一个问题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看似稳定时，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evidence support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是否也稳定？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381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01 Robustness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693 = 21×11×3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660 defined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33 undefined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2667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838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02 Perturbation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838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±10% / ±20%</a:t>
            </a:r>
            <a:endParaRPr/>
          </a:p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0 flips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ranking N/A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953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24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03 Ablation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24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support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coverage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score can persist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239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10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04 Failure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410450" y="1990725"/>
            <a:ext cx="222885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ABSTAIN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zero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9525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696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05 Transfer / ML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696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constraint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superiority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generalization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5219700"/>
            <a:ext cx="11430000" cy="857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10490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五条路径不是五个新主张，而是同一个可审查问题的五种压力测试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不新增实验解释，只收束既有冻结证据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失败不是 0 分：ABSTAIN 与 NO_EFFECTIVE_EVIDENCE&lt;/Text&gt;&lt;/Box&gt;&#10;  &lt;Box style={{ height: 500, flexDirection: 'row', gap: 28, paddingTop: 18 }}&gt;&#10;    &lt;Box style={{ width: 690, height: 470, border: '1px solid #D6DCE5', padding: 12, background: '#F7F9FC' }}&gt;&lt;Image src=&quot;assets/F5_ablation_refusal.svg&quot; style={{ width: 664, height: 444, objectFit: 'contain' }} /&gt;&lt;/Box&gt;&#10;    &lt;Box style={{ width: 460, height: 470, padding: 22, gap: 17 }}&gt;&lt;Text style={{ fontSize: 25, color: '#0E3F8C', fontWeight: 'bold' }}&gt;三个反例&lt;/Text&gt;&lt;Box style={{ background: '#E8EFF8', padding: 14 }}&gt;&lt;Text style={{ fontSize: 20, color: '#1A2230', lineHeight: 1.35 }}&gt;P108：L6 · R=0.375 · Adj=2.25&lt;/Text&gt;&lt;Text style={{ fontSize: 20, color: '#D9534F', fontWeight: 'bold', marginTop: 6 }}&gt;LOW_SUPPORT / ABSTAIN&lt;/Text&gt;&lt;/Box&gt;&lt;Box style={{ background: '#F0F5FC', padding: 14 }}&gt;&lt;Text style={{ fontSize: 20, color: '#1A2230', lineHeight: 1.35 }}&gt;P105：L2 · R=0.375 · Adj=0.75&lt;/Text&gt;&lt;Text style={{ fontSize: 20, color: '#D9534F', fontWeight: 'bold', marginTop: 6 }}&gt;LOW_SUPPORT&lt;/Text&gt;&lt;/Box&gt;&lt;Box style={{ border: '2px solid #D9534F', padding: 14 }}&gt;&lt;Text style={{ fontSize: 20, color: '#1A2230', lineHeight: 1.35 }}&gt;P072 / P035：Adjusted=null&lt;/Text&gt;&lt;Text style={{ fontSize: 20, color: '#D9534F', fontWeight: 'bold', marginTop: 6 }}&gt;NO_EFFECTIVE_EVIDENCE&lt;/Text&gt;&lt;/Box&gt;&lt;Text style={{ fontSize: 20, color: '#4A5568', lineHeight: 1.4 }}&gt;ABSTAIN 是合理输出，不是模型失败。&lt;/Text&gt;&lt;/Box&gt;&#10;  &lt;/Box&gt;&#10;  &lt;Box style={{ height: 40, flexDirection: 'row', justifyContent: 'space-between', alignItems: 'center' }}&gt;&lt;Text style={{ fontSize: 14, color: '#D9534F' }}&gt;无有效证据时不填 0，避免制造虚假的确定性&lt;/Text&gt;&lt;Text style={{ fontSize: 14, color: '#0E3F8C' }}&gt;07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失败不是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分：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ABSTAIN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NO_EFFECTIVE_EVIDENCE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81000" y="1390650"/>
            <a:ext cx="6572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381" t="0" r="6381" b="0"/>
          <a:stretch>
            <a:fillRect/>
          </a:stretch>
        </p:blipFill>
        <p:spPr>
          <a:xfrm rot="0" flipH="0" flipV="0">
            <a:off x="495300" y="1504950"/>
            <a:ext cx="6324600" cy="42291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429500" y="1600200"/>
            <a:ext cx="3962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三个反例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429500" y="2047875"/>
            <a:ext cx="39624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562850" y="21812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P108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L6 · R=0.375 · Adj=2.25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562850" y="25527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 / ABSTAIN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429500" y="3076575"/>
            <a:ext cx="3962400" cy="8667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562850" y="32099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L2 · R=0.375 · Adj=0.75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562850" y="35814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7429500" y="4105275"/>
            <a:ext cx="3962400" cy="866775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562850" y="42386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P072 / P035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Adjusted=null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562850" y="46101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429500" y="5133975"/>
            <a:ext cx="39624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ABSTAIN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是合理输出，不是模型失败。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无有效证据时不填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，避免制造虚假的确定性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7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Challenger 与外部迁移：支持边界同样重要&lt;/Text&gt;&lt;/Box&gt;&#10;  &lt;Box style={{ height: 500, flexDirection: 'row', gap: 24, paddingTop: 18 }}&gt;&#10;    &lt;Box style={{ width: 440, height: 470, padding: 22, background: '#F0F5FC', gap: 15 }}&gt;&lt;Text style={{ fontSize: 26, color: '#0E3F8C', fontWeight: 'bold' }}&gt;ML Challenger&lt;/Text&gt;&lt;Text style={{ fontSize: 21, color: '#1A2230', lineHeight: 1.45 }}&gt;LogReg ≈ 0.876&lt;br /&gt;Tree ≈ 0.919&lt;br /&gt;RF ≈ 0.922&lt;/Text&gt;&lt;Box style={{ borderTop: '2px solid #1E4FA8', paddingTop: 14 }}&gt;&lt;Text style={{ fontSize: 21, color: '#1A2230', lineHeight: 1.45 }}&gt;RF 跨学期：0.588&lt;br /&gt;缺失后：0.71–0.81&lt;/Text&gt;&lt;/Box&gt;&lt;Text style={{ fontSize: 20, color: '#D9534F', fontWeight: 'bold', lineHeight: 1.35 }}&gt;INSUFFICIENT_FOR_STRONG_ML_CLAIM&lt;/Text&gt;&lt;/Box&gt;&#10;    &lt;Box style={{ width: 720, height: 470, border: '1px solid #D6DCE5', padding: 12, background: '#F7F9FC' }}&gt;&lt;Image src=&quot;assets/F6_external_structural_transfer.svg&quot; style={{ width: 694, height: 444, objectFit: 'contain' }} /&gt;&lt;/Box&gt;&#10;  &lt;/Box&gt;&#10;  &lt;Box style={{ height: 40, flexDirection: 'row', justifyContent: 'space-between', alignItems: 'center' }}&gt;&lt;Text style={{ fontSize: 14, color: '#D9534F' }}&gt;BTC n=1698：Gate1/2 SUPPORTED；Gate3 NOT SUPPORTED；risk-coverage improvement=false&lt;/Text&gt;&lt;Text style={{ fontSize: 14, color: '#0E3F8C' }}&gt;08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Challenger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与外部迁移：支持边界同样重要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381000" y="1390650"/>
            <a:ext cx="419100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90550" y="160020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ML Challenger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90550" y="2047875"/>
            <a:ext cx="3771900" cy="1047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LogReg ≈ 0.876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Tree ≈ 0.919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≈ 0.922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90550" y="3238500"/>
            <a:ext cx="3771900" cy="876300"/>
          </a:xfrm>
          <a:custGeom>
            <a:pathLst>
              <a:path w="396" h="92">
                <a:moveTo>
                  <a:pt x="0" y="0"/>
                </a:moveTo>
                <a:lnTo>
                  <a:pt x="396" y="0"/>
                </a:lnTo>
                <a:lnTo>
                  <a:pt x="396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90550" y="3390900"/>
            <a:ext cx="37719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跨学期：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0.588</a:t>
            </a:r>
            <a:endParaRPr/>
          </a:p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缺失后：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0.71–0.81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90550" y="4238625"/>
            <a:ext cx="3857625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INSUFFICIENT_FOR_STRONG_ML_CLAIM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800600" y="1390650"/>
            <a:ext cx="68580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4410" t="0" r="4410" b="0"/>
          <a:stretch>
            <a:fillRect/>
          </a:stretch>
        </p:blipFill>
        <p:spPr>
          <a:xfrm rot="0" flipH="0" flipV="0">
            <a:off x="4914900" y="1504950"/>
            <a:ext cx="6610350" cy="422910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BTC n=1698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Gate1/2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Gate3 NOT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risk-coverage improvement=false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研究边界：现在能说什么，不能说什么&lt;/Text&gt;&lt;/Box&gt;&#10;  &lt;Box style={{ height: 500, paddingTop: 18, gap: 18 }}&gt;&#10;    &lt;Box style={{ height: 108, background: '#0E3F8C', padding: 20, flexDirection: 'row', alignItems: 'center', gap: 52 }}&gt;&lt;Text style={{ fontSize: 25, color: '#FFFFFF', fontWeight: 'bold' }}&gt;状态&lt;/Text&gt;&lt;Text style={{ fontSize: 21, color: '#FFFFFF' }}&gt;AI_PROVISIONAL · DEVELOPMENT_ONLY · NOT_HUMAN_VALIDATED&lt;/Text&gt;&lt;/Box&gt;&#10;    &lt;Box style={{ height: 150, flexDirection: 'row', gap: 18 }}&gt;&lt;Box style={{ width: 284, background: '#F0F5FC', padding: 18 }}&gt;&lt;Text style={{ fontSize: 20, color: '#0E3F8C', fontWeight: 'bold' }}&gt;Human Gate&lt;/Text&gt;&lt;Text style={{ fontSize: 20, color: '#1A2230', marginTop: 12, lineHeight: 1.4 }}&gt;R1 = 0/70&lt;br /&gt;R2 = 0/70&lt;br /&gt;Formal Gate = NOT_RUN&lt;/Text&gt;&lt;/Box&gt;&lt;Box style={{ width: 284, background: '#F0F5FC', padding: 18 }}&gt;&lt;Text style={{ fontSize: 20, color: '#0E3F8C', fontWeight: 'bold' }}&gt;AI Increment&lt;/Text&gt;&lt;Text style={{ fontSize: 20, color: '#D9534F', fontWeight: 'bold', marginTop: 12 }}&gt;NOT_SUPPORTED&lt;/Text&gt;&lt;Text style={{ fontSize: 18, color: '#4A5568', marginTop: 8 }}&gt;无合法 paired outcome&lt;/Text&gt;&lt;/Box&gt;&lt;Box style={{ width: 584, background: '#F0F5FC', padding: 18 }}&gt;&lt;Text style={{ fontSize: 20, color: '#0E3F8C', fontWeight: 'bold' }}&gt;可支持的结论级别&lt;/Text&gt;&lt;Text style={{ fontSize: 21, color: '#1A2230', marginTop: 12 }}&gt;descriptive / structural · Evidence Level 1&lt;/Text&gt;&lt;/Box&gt;&lt;/Box&gt;&#10;    &lt;Box style={{ height: 178, border: '2px solid #D9534F', padding: 18 }}&gt;&lt;Text style={{ fontSize: 22, color: '#D9534F', fontWeight: 'bold' }}&gt;不可声称&lt;/Text&gt;&lt;Text style={{ fontSize: 20, color: '#1A2230', marginTop: 10, lineHeight: 1.45 }}&gt;AI 提高学习效果 · causal learning gain · 准确率提升 · 交易优势 · 通用泛化 · ML winner&lt;/Text&gt;&lt;/Box&gt;&#10;  &lt;/Box&gt;&#10;  &lt;Box style={{ height: 40, flexDirection: 'row', justifyContent: 'space-between', alignItems: 'center' }}&gt;&lt;Text style={{ fontSize: 14, color: '#8B97A8' }}&gt;边界不是附注，而是结果可信度的一部分&lt;/Text&gt;&lt;Text style={{ fontSize: 14, color: '#0E3F8C' }}&gt;09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研究边界：现在能说什么，不能说什么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81000" y="1390650"/>
            <a:ext cx="11430000" cy="10287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476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543050" y="1781175"/>
            <a:ext cx="6562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81000" y="2590800"/>
            <a:ext cx="2705100" cy="16478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5245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Human Gate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52450" y="3105150"/>
            <a:ext cx="23622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R1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R2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Formal Gate = NOT_RUN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257550" y="2590800"/>
            <a:ext cx="27051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42900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AI Increment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429000" y="31051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NOT_SUPPORTED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429000" y="3409950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无合法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paired outcome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134100" y="2590800"/>
            <a:ext cx="55626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305550" y="2762250"/>
            <a:ext cx="521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可支持的结论级别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305550" y="310515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descriptive / structural · Evidence Level 1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81000" y="4191000"/>
            <a:ext cx="11430000" cy="1695450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2450" y="4362450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不可声称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52450" y="4714875"/>
            <a:ext cx="1108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提高学习效果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causal learning gain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准确率提升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交易优势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通用泛化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ML winner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边界不是附注，而是结果可信度的一部分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style={{ width: 1280, height: 720, background: '#F7F9FC', padding: 40 }}&gt;&#10;  &lt;Box style={{ height: 100, background: '#0E3F8C', padding: 22, justifyContent: 'center' }}&gt;&lt;Text style={{ fontSize: 38, color: '#FFFFFF', fontWeight: 'bold' }}&gt;结论与现场 Demo&lt;/Text&gt;&lt;/Box&gt;&#10;  &lt;Box style={{ height: 220, padding: 32, justifyContent: 'center', background: '#E8EFF8' }}&gt;&lt;Text style={{ fontSize: 34, color: '#1E4FA8', fontWeight: 'bold' }}&gt;Score Stability ≠ Evidence Support Stability&lt;/Text&gt;&lt;Text style={{ fontSize: 23, color: '#1A2230', marginTop: 14 }}&gt;稳定的 score 不能替代稳定的 evidence support。&lt;/Text&gt;&lt;/Box&gt;&#10;  &lt;Box style={{ height: 260, paddingTop: 26, flexDirection: 'row', gap: 16 }}&gt;&lt;Box style={{ width: 270, height: 180, background: '#FFFFFF', border: '1px solid #D6DCE5', padding: 20 }}&gt;&lt;Text style={{ fontSize: 21, color: '#1E4FA8', fontWeight: 'bold' }}&gt;01 研究问题&lt;/Text&gt;&lt;Text style={{ fontSize: 18, color: '#4A5568', marginTop: 14, lineHeight: 1.4 }}&gt;Observed result 能否可靠解释？&lt;/Text&gt;&lt;/Box&gt;&lt;Box style={{ width: 270, height: 180, background: '#FFFFFF', border: '1px solid #D6DCE5', padding: 20 }}&gt;&lt;Text style={{ fontSize: 21, color: '#1E4FA8', fontWeight: 'bold' }}&gt;02 模型链路&lt;/Text&gt;&lt;Text style={{ fontSize: 18, color: '#4A5568', marginTop: 14, lineHeight: 1.4 }}&gt;Raw → Reliability → Support&lt;/Text&gt;&lt;/Box&gt;&lt;Box style={{ width: 270, height: 180, background: '#FFFFFF', border: '1px solid #D6DCE5', padding: 20 }}&gt;&lt;Text style={{ fontSize: 21, color: '#1E4FA8', fontWeight: 'bold' }}&gt;03 主结果&lt;/Text&gt;&lt;Text style={{ fontSize: 18, color: '#4A5568', marginTop: 14, lineHeight: 1.4 }}&gt;70 / 16 / 54；coverage 下降&lt;/Text&gt;&lt;/Box&gt;&lt;Box style={{ width: 270, height: 180, background: '#FFFFFF', border: '2px solid #D9534F', padding: 20 }}&gt;&lt;Text style={{ fontSize: 21, color: '#D9534F', fontWeight: 'bold' }}&gt;04 失败案例&lt;/Text&gt;&lt;Text style={{ fontSize: 18, color: '#4A5568', marginTop: 14, lineHeight: 1.4 }}&gt;P108 → ABSTAIN&lt;/Text&gt;&lt;/Box&gt;&lt;/Box&gt;&#10;  &lt;Box style={{ height: 50, flexDirection: 'row', justifyContent: 'space-between', alignItems: 'center' }}&gt;&lt;Text style={{ fontSize: 16, color: '#8B97A8' }}&gt;现场 fallback：离线 Demo + F1–F6 冻结图&lt;/Text&gt;&lt;Text style={{ fontSize: 14, color: '#0E3F8C' }}&gt;10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381000" y="381000"/>
            <a:ext cx="11430000" cy="952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90550" y="638175"/>
            <a:ext cx="11010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结论与现场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Demo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1000" y="1333500"/>
            <a:ext cx="11430000" cy="2095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1990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2514600"/>
            <a:ext cx="1082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score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evidence support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810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01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15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Observed result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能否可靠解释？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10515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2956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02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模型链路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29565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Raw → Reliability → Support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8293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198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03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主结果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198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70 / 16 / 54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coverage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下降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8553450" y="3676650"/>
            <a:ext cx="257175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7439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04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失败案例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743950" y="4248150"/>
            <a:ext cx="21907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P108 → ABSTAIN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1000" y="6048375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现场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fallback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：离线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Demo + F1–F6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353800" y="6067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2026-09-27T01:49:45Z</dcterms:created>
  <dcterms:modified xsi:type="dcterms:W3CDTF">2026-09-27T01:49:45Z</dcterms:modified>
</cp:coreProperties>
</file>