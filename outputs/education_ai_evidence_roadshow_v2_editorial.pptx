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09d89e7a2f4662" /><Relationship Type="http://schemas.openxmlformats.org/officeDocument/2006/relationships/extended-properties" Target="/docProps/app.xml" Id="R466dc16215884046" /><Relationship Type="http://schemas.openxmlformats.org/officeDocument/2006/relationships/officeDocument" Target="/ppt/presentation.xml" Id="Ra184324ed6ff41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e92e9a7b4b447f"/>
  </p:sldMasterIdLst>
  <p:notesMasterIdLst>
    <p:notesMasterId xmlns:r="http://schemas.openxmlformats.org/officeDocument/2006/relationships" r:id="R8f2fc9a861f348b3"/>
  </p:notesMasterIdLst>
  <p:sldIdLst>
    <p:sldId xmlns:r="http://schemas.openxmlformats.org/officeDocument/2006/relationships" id="256" r:id="R6b3fd75c00084b3e"/>
    <p:sldId xmlns:r="http://schemas.openxmlformats.org/officeDocument/2006/relationships" id="257" r:id="R38443ff0284145af"/>
    <p:sldId xmlns:r="http://schemas.openxmlformats.org/officeDocument/2006/relationships" id="258" r:id="Ra32ee9fd074b4fbc"/>
    <p:sldId xmlns:r="http://schemas.openxmlformats.org/officeDocument/2006/relationships" id="259" r:id="R3512371cb09c4371"/>
    <p:sldId xmlns:r="http://schemas.openxmlformats.org/officeDocument/2006/relationships" id="260" r:id="R853b1ea5ccd444c5"/>
    <p:sldId xmlns:r="http://schemas.openxmlformats.org/officeDocument/2006/relationships" id="261" r:id="R4e227e0263074803"/>
    <p:sldId xmlns:r="http://schemas.openxmlformats.org/officeDocument/2006/relationships" id="262" r:id="Rceb32f8367614acd"/>
    <p:sldId xmlns:r="http://schemas.openxmlformats.org/officeDocument/2006/relationships" id="263" r:id="Radcedbc7cc984b61"/>
    <p:sldId xmlns:r="http://schemas.openxmlformats.org/officeDocument/2006/relationships" id="264" r:id="Ra15a21a3cfad4c6d"/>
    <p:sldId xmlns:r="http://schemas.openxmlformats.org/officeDocument/2006/relationships" id="265" r:id="R8e705799938c4c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80b5e95d554302" /><Relationship Type="http://schemas.openxmlformats.org/officeDocument/2006/relationships/slideMaster" Target="/ppt/slideMasters/slideMaster1.xml" Id="R73e92e9a7b4b447f" /><Relationship Type="http://schemas.openxmlformats.org/officeDocument/2006/relationships/notesMaster" Target="/ppt/notesMasters/notesMaster1.xml" Id="R8f2fc9a861f348b3" /><Relationship Type="http://schemas.openxmlformats.org/officeDocument/2006/relationships/presProps" Target="/ppt/presProps.xml" Id="Rda6ab2cb9d304873" /><Relationship Type="http://schemas.openxmlformats.org/officeDocument/2006/relationships/tableStyles" Target="/ppt/tableStyles.xml" Id="R19e7e7fc780e4f4b" /><Relationship Type="http://schemas.openxmlformats.org/officeDocument/2006/relationships/slide" Target="/ppt/slides/slide1.xml" Id="R6b3fd75c00084b3e" /><Relationship Type="http://schemas.openxmlformats.org/officeDocument/2006/relationships/slide" Target="/ppt/slides/slide2.xml" Id="R38443ff0284145af" /><Relationship Type="http://schemas.openxmlformats.org/officeDocument/2006/relationships/slide" Target="/ppt/slides/slide3.xml" Id="Ra32ee9fd074b4fbc" /><Relationship Type="http://schemas.openxmlformats.org/officeDocument/2006/relationships/slide" Target="/ppt/slides/slide4.xml" Id="R3512371cb09c4371" /><Relationship Type="http://schemas.openxmlformats.org/officeDocument/2006/relationships/slide" Target="/ppt/slides/slide5.xml" Id="R853b1ea5ccd444c5" /><Relationship Type="http://schemas.openxmlformats.org/officeDocument/2006/relationships/slide" Target="/ppt/slides/slide6.xml" Id="R4e227e0263074803" /><Relationship Type="http://schemas.openxmlformats.org/officeDocument/2006/relationships/slide" Target="/ppt/slides/slide7.xml" Id="Rceb32f8367614acd" /><Relationship Type="http://schemas.openxmlformats.org/officeDocument/2006/relationships/slide" Target="/ppt/slides/slide8.xml" Id="Radcedbc7cc984b61" /><Relationship Type="http://schemas.openxmlformats.org/officeDocument/2006/relationships/slide" Target="/ppt/slides/slide9.xml" Id="Ra15a21a3cfad4c6d" /><Relationship Type="http://schemas.openxmlformats.org/officeDocument/2006/relationships/slide" Target="/ppt/slides/slide10.xml" Id="R8e705799938c4c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8bf0c2a89d4a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f5ddb9f2914bcb" /><Relationship Type="http://schemas.openxmlformats.org/officeDocument/2006/relationships/notesMaster" Target="/ppt/notesMasters/notesMaster1.xml" Id="Rb11d848dd8c94a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1329aad631411c" /><Relationship Type="http://schemas.openxmlformats.org/officeDocument/2006/relationships/notesMaster" Target="/ppt/notesMasters/notesMaster1.xml" Id="R94b9da8bd73b4d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858fcf4bde427e" /><Relationship Type="http://schemas.openxmlformats.org/officeDocument/2006/relationships/notesMaster" Target="/ppt/notesMasters/notesMaster1.xml" Id="R5bacadddc0df42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6540e481604ace" /><Relationship Type="http://schemas.openxmlformats.org/officeDocument/2006/relationships/notesMaster" Target="/ppt/notesMasters/notesMaster1.xml" Id="R13bf91c98d2f49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261f6e05564bd4" /><Relationship Type="http://schemas.openxmlformats.org/officeDocument/2006/relationships/notesMaster" Target="/ppt/notesMasters/notesMaster1.xml" Id="R58f92bfaf8b444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02b236fcac48c6" /><Relationship Type="http://schemas.openxmlformats.org/officeDocument/2006/relationships/notesMaster" Target="/ppt/notesMasters/notesMaster1.xml" Id="Re853ee1866294a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3d49dfc83744c3" /><Relationship Type="http://schemas.openxmlformats.org/officeDocument/2006/relationships/notesMaster" Target="/ppt/notesMasters/notesMaster1.xml" Id="Re95eb335bb4741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9d2c09879c471a" /><Relationship Type="http://schemas.openxmlformats.org/officeDocument/2006/relationships/notesMaster" Target="/ppt/notesMasters/notesMaster1.xml" Id="R6f2ec0b0bb3d45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37036ed6d54b0c" /><Relationship Type="http://schemas.openxmlformats.org/officeDocument/2006/relationships/notesMaster" Target="/ppt/notesMasters/notesMaster1.xml" Id="Rdb84267593e040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c357bd6e774d31" /><Relationship Type="http://schemas.openxmlformats.org/officeDocument/2006/relationships/notesMaster" Target="/ppt/notesMasters/notesMaster1.xml" Id="R821d79cbd43942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封面采用参考图的绿色、橙色和编辑式大标题。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用一个测量问题开场，避免从算法名称开始。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编辑式横向流程，保留核心门控逻辑。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数字与现有 raw_adjusted_metrics.csv 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保留核心 sensitivity 结论，但用编辑式图形替代仪表盘。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表格仍保持可读，但不再使用卡片网格。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反例全部来自现有 development records。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不展示任何 R1 标签，只表达流程边界。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reports/demo/index.html 的现场操作逻辑。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收束到核心句与当前正式边界。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18aca6dfa41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e41dd5014b477c" /><Relationship Type="http://schemas.openxmlformats.org/officeDocument/2006/relationships/slideLayout" Target="/ppt/slideLayouts/slideLayout1.xml" Id="Re9035c5fcff044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035c5fcff044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669fe6be644c6" /><Relationship Type="http://schemas.openxmlformats.org/officeDocument/2006/relationships/notesSlide" Target="/ppt/notesSlides/notesSlide1.xml" Id="Rcea8f14669a44b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ad86e042847ba" /><Relationship Type="http://schemas.openxmlformats.org/officeDocument/2006/relationships/notesSlide" Target="/ppt/notesSlides/notesSlide2.xml" Id="Rd0ded46c9c774a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1b0521edd4ede" /><Relationship Type="http://schemas.openxmlformats.org/officeDocument/2006/relationships/notesSlide" Target="/ppt/notesSlides/notesSlide3.xml" Id="Rd7629fc4901d42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740ada79947d5" /><Relationship Type="http://schemas.openxmlformats.org/officeDocument/2006/relationships/notesSlide" Target="/ppt/notesSlides/notesSlide4.xml" Id="Rbd5d3d4663074d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11c77a5d64c4a" /><Relationship Type="http://schemas.openxmlformats.org/officeDocument/2006/relationships/notesSlide" Target="/ppt/notesSlides/notesSlide5.xml" Id="R6125741d77724d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7d5bc486e4eec" /><Relationship Type="http://schemas.openxmlformats.org/officeDocument/2006/relationships/notesSlide" Target="/ppt/notesSlides/notesSlide6.xml" Id="Ref9f6fb799ff49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09b6ea12241d4" /><Relationship Type="http://schemas.openxmlformats.org/officeDocument/2006/relationships/notesSlide" Target="/ppt/notesSlides/notesSlide7.xml" Id="Rf28538b144ad4f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7894137d84669" /><Relationship Type="http://schemas.openxmlformats.org/officeDocument/2006/relationships/notesSlide" Target="/ppt/notesSlides/notesSlide8.xml" Id="R8b64fddaa6954c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e67bb640d48cb" /><Relationship Type="http://schemas.openxmlformats.org/officeDocument/2006/relationships/notesSlide" Target="/ppt/notesSlides/notesSlide9.xml" Id="R559d55c876b643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e64da2fb747c6" /><Relationship Type="http://schemas.openxmlformats.org/officeDocument/2006/relationships/notesSlide" Target="/ppt/notesSlides/notesSlide10.xml" Id="Re8a172121ab741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8A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FC719-ED09-4ADE-95EE-7F7E8DCD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BDC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BDCC8"/>
                </a:solidFill>
                <a:latin typeface="Microsoft YaHei"/>
                <a:ea typeface="Microsoft YaHei"/>
                <a:cs typeface="Microsoft YaHei"/>
              </a:rPr>
              <a:t>MATH HACKATHON 2026 · 赛道一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FD907-B988-409F-85A3-292799E9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810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Evidence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Before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54D5F-804F-4B06-A1AD-DA7FB7EC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教育 AI 增量价值评价的证据边界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57BE3-54A9-41E6-8D93-D08E2752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6B"/>
          </a:solidFill>
          <a:ln xmlns:a="http://schemas.openxmlformats.org/drawingml/2006/main" w="9525">
            <a:solidFill>
              <a:srgbClr val="F2C2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01DF4-DF42-4BEE-B916-FD491B0B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9F6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9F6EE"/>
                </a:solidFill>
                <a:latin typeface="Microsoft YaHei"/>
                <a:ea typeface="Microsoft YaHei"/>
                <a:cs typeface="Microsoft YaHei"/>
              </a:rPr>
              <a:t>从“分数”走向“有证据的分数”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C3732-6DB2-4DF9-B695-D93BD6DB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0E9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0E9D9"/>
                </a:solidFill>
                <a:latin typeface="Microsoft YaHei"/>
                <a:ea typeface="Microsoft YaHei"/>
                <a:cs typeface="Microsoft YaHei"/>
              </a:rPr>
              <a:t>中国第一届数学建模黑客松 · 完整比赛路演版本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E3EE6-A804-4EA0-AFA9-592EA75B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715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0E9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0E9D9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77158-C04D-4B3D-9605-4C15EB4F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9B3"/>
          </a:solidFill>
          <a:ln xmlns:a="http://schemas.openxmlformats.org/drawingml/2006/main" w="9525">
            <a:solidFill>
              <a:srgbClr val="8BD9B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A8A1D-46C6-4399-AF09-37D4CBAD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34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9B3"/>
          </a:solidFill>
          <a:ln xmlns:a="http://schemas.openxmlformats.org/drawingml/2006/main" w="9525">
            <a:solidFill>
              <a:srgbClr val="8BD9B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66FD2-C73D-49D9-BA63-F3818514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667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9B3"/>
          </a:solidFill>
          <a:ln xmlns:a="http://schemas.openxmlformats.org/drawingml/2006/main" w="9525">
            <a:solidFill>
              <a:srgbClr val="8BD9B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23591-266F-4578-A1F8-19451B7D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001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9B3"/>
          </a:solidFill>
          <a:ln xmlns:a="http://schemas.openxmlformats.org/drawingml/2006/main" w="9525">
            <a:solidFill>
              <a:srgbClr val="8BD9B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06D5A-B035-4C9E-A009-BD1F584D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1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D9B3"/>
          </a:solidFill>
          <a:ln xmlns:a="http://schemas.openxmlformats.org/drawingml/2006/main" w="9525">
            <a:solidFill>
              <a:srgbClr val="8BD9B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CAFDA-2D1F-4EBD-846B-807BDBD6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D9B3"/>
          </a:solidFill>
          <a:ln xmlns:a="http://schemas.openxmlformats.org/drawingml/2006/main" w="9525">
            <a:solidFill>
              <a:srgbClr val="8BD9B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0AED6-30BC-46A3-9AF9-32A4A729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333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D9B3"/>
          </a:solidFill>
          <a:ln xmlns:a="http://schemas.openxmlformats.org/drawingml/2006/main" w="9525">
            <a:solidFill>
              <a:srgbClr val="8BD9B3"/>
            </a:solidFill>
          </a:ln>
        </p:spPr>
      </p:sp>
    </p:spTree>
    <p:extLst>
      <p:ext uri="{BB962C8B-B14F-4D97-AF65-F5344CB8AC3E}">
        <p14:creationId xmlns:p14="http://schemas.microsoft.com/office/powerpoint/2010/main" val="4070195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9FCC5C-C44F-49C6-996B-A1BBD02C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01 · MEASUREMENT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BC1A8-00C1-4B2C-B1FB-85F5B9D0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What does the score actually measure?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53699-4C59-4415-A4B3-E22259B5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AI 进入学习过程后，一条文本可能同时带着学生思考、AI 引导与上下文缺口。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73E9F-8B2E-4F3C-8D44-203DC21D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3F2B6-0B7F-4BEC-BE73-5F899EB4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F23E2-1588-4996-9A9F-41BD61AD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34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2B1B3-724A-4CEF-92F0-5D9CF5B9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667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3AC78-32F8-4B78-BFB8-0AF82778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001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1BDF4-8644-4EF1-A715-C03B14A6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1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E04EE-C985-4C6F-8D1C-0FE9C095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DC661-012B-429D-8911-874C4A3B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333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91A23-5E3E-4DFE-9E2D-D840FD6C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学生文本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ABA75-90B6-40A1-949B-A1CFB92A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A503D-D2E7-4F04-820E-97F60C3A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同一条记录可能包含多种来源。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3D579-AC50-4E34-B1F4-A8D4CEDD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050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5824C-2F47-45B6-AEF6-74353D8C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1219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Observed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interaction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F2838-2833-4CFE-B78E-F2A5BCAC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2CC7F-BE06-4629-A910-ED9C6A0F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90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rPr>
              <a:t>学生思考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A30E14-B33A-4A3E-9876-7D484918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2412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813D7-C505-4443-9D11-5C665DB5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0025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5AA84B-32E5-41A9-B7BB-220516A9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rPr>
              <a:t>AI 提示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CD770F-7B67-40B9-9DF4-4FD8329B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2412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71DF87-BFA7-4623-B192-2091407F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211981-5461-44C6-AFD3-F4E5BDE6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86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rPr>
              <a:t>上下文缺失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1FBDA5-6B04-48D6-A169-003C47D3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1962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3CBEC1-8E96-4723-B133-BD25FB34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70BFDA-2142-4CEE-A7AC-41446781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86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rPr>
              <a:t>标注不确定性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8E8D41-8936-44E9-A20D-23F4A39C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1962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D119D0-7FC0-435C-B223-E6F27282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578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8A5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078A5B"/>
                </a:solidFill>
                <a:latin typeface="Georgia"/>
                <a:ea typeface="Georgia"/>
                <a:cs typeface="Georgia"/>
              </a:rPr>
              <a:t>评价系统如何知道分数背后有多少真正属于学生的证据？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9DECC8-5AEB-4BFF-BE2F-16CD047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RESEARCH CORE FROZEN FOR SUBMISSION · DEVELOPMENT ONLY · AI_PROVISIONAL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B39BA8-E43E-4BB3-89A4-5BFE9AAB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9752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950D46-B8CF-42A3-9415-00A400EA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02 · EVIDENCE RELIABILITY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73382-F699-4EBD-81EC-C297122D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A score needs a visible support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48173-064F-4CF3-BDE1-12550D3B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我们把 Score 与 Evidence Support 分开报告。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BA8C9-5F5A-4B0B-BFAF-B2848444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1E84C-A477-4FF3-8B5B-966DEDEE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7E92F-1C21-4DE1-9445-50BDC5A6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34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F029D-65C9-4F17-9B0B-23B824DD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667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0431C-CC17-483B-9EA0-E02DE290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001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6EBA1-8D8D-4258-800A-9C866643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1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D6ADC-C198-446A-B662-579CCC76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D7389-96DC-41A0-BE1D-E43036AD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333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4DF3A-19BF-4188-8D70-73F975B0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652BB-4C93-4E5D-9995-20C689FD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Observed Logs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8D8CF-0DBB-4509-B9B4-75FC8247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原始交互记录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C1ED3-F6FA-442D-9FD5-B9AB7774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717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B3DDE-CF36-4E2A-9958-401A2D7C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9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32494-FA97-4DB3-80A6-28B4F3F3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09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Evidence Screening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2DEEED-BF39-427D-BF2B-D8D2DA2D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67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L1–L6 / NO_EVIDENCE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4CFE7-3332-4DB6-8A05-42D199CD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717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E4710B-A73B-430E-9454-94862547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9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6F70DD-898A-4EC7-BB96-FB73E59B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09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Support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FBA95B-C875-417C-99A0-1B180F1A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67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effective weight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DD15E5-7BA2-4DEC-B590-06F62D11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717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8290E4-5CEA-4BBF-8DF8-AAF3AB12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9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DDF796-93B2-4E67-BA1F-4579FC11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09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Sensitivity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51A835-9F54-40B4-B66F-A80EE91B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λ_prompt · λ_context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FC7113-48F9-4853-8ACC-82553276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717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2F6947-A71E-4AD3-BD19-674B5215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098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69DC15-80DF-47B4-9B50-E0467A4B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09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Formal AIV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92DCDC-6F34-455B-8A0F-7287B11A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67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only after Gate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153AE5-5A94-44D6-BBDA-9245CFB7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8FF5F8-71A5-469E-A90E-795E83B2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8A5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78A5B"/>
                </a:solidFill>
                <a:latin typeface="Georgia"/>
                <a:ea typeface="Georgia"/>
                <a:cs typeface="Georgia"/>
              </a:rPr>
              <a:t>如果有效证据权重为 0，结果是 NO_EFFECTIVE_EVIDENCE。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57DC85-A908-4990-850A-5961043F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“无法计算”不等于 0 分。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CEC787-9E12-40AF-91D2-D6F84A2E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RESEARCH CORE FROZEN FOR SUBMISSION · DEVELOPMENT ONLY · AI_PROVISIONAL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B3937E-A7F7-4D43-8499-21F6BAAA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946693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793386-150E-4A4B-AEC5-EF9B1B45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03 · RAW VS ADJUSTED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D385C-D46E-4A05-A933-F4CE364B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Same score. Different support.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5E908-A9B5-45E8-908B-C4B259F8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当前开发数据最重要的结构事实。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49B70-CB60-4A58-9597-7F6E8908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BE069-0BCF-4914-A3EC-D1EA5F77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554B2-46E4-40C9-A35C-FC71C7BF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34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60A1B-CD33-4CEE-B8DD-E840BB86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667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AFDB6-DF26-4624-9F92-F5D202B0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001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8C7F1-F759-4ACB-BD8D-DB21598F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1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080A9-C68A-45B7-9096-45B816A0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939FE-A7BE-489D-936B-FE61F940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333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D281D-1C43-4A43-8ABA-FBB6638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ABL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E87B0-92D7-4061-B5FD-F01BA671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3.5625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72D81-1FD4-43F5-8004-3E0347ED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Raw = Adjusted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2F4B0-0348-4FBC-B284-2734CF0F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52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F6BDA8-F465-4095-9FE3-491B81A3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003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0.375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CEE8D-5F3D-4124-94D9-3236389C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95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Raw = Adjusted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4C8C24-9457-4AE5-B8DF-B293AD8C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52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Gap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65171-C97B-4ECB-8B97-E8612AF9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1.125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6B66C8-01CF-43D1-BA8A-A5062199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95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Raw = Adjusted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10060C-051F-48BA-8078-E84EE1EE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52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CC299-745C-4FD8-9CCE-90903B32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003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16 / 70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9EBC23-B21F-4587-9F69-6C6574DD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95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readable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53526F-326A-44C1-8BE0-1128EED7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9525">
            <a:solidFill>
              <a:srgbClr val="CBD8D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9323DE-D51E-4CFB-ABAE-AF12ABC8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Effective weight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45B496-3A4C-4FCD-AF77-4BCDDE79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16 → 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A0C63F-5E1B-4A7F-A2E0-E56D33C4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after adjustment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87669F-22EF-4C84-9712-86F18811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95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Coverage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8B2A5D-D796-40F2-BE9A-69E525BD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434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0.228571 → 0.085714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4D1178-F726-4D09-83C5-2FE1034A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38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denominator = 70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EF8E8A-5C32-4AB4-ACD2-D1ACDE5D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8A5B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078A5B"/>
                </a:solidFill>
                <a:latin typeface="Georgia"/>
                <a:ea typeface="Georgia"/>
                <a:cs typeface="Georgia"/>
              </a:rPr>
              <a:t>Score stability does not imply Evidence Support stability.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C51E4E-D906-4428-9FBA-E33DCC92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RESEARCH CORE FROZEN FOR SUBMISSION · DEVELOPMENT ONLY · AI_PROVISIONAL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CB543B-2A28-4A5E-A19A-F1AEBB60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518778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0DDD29-6F8F-4A5C-9A39-88DA9D32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04 · SENSITIVITY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79EA8-C4B3-4739-AD41-69033D99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The score can stay still while support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9B203-84A9-45F3-AD27-70D6F358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λ_prompt 是透明的 sensitivity assumption，不是估计的因果参数。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3283E-E499-4D6E-8ED9-FAD145B1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5EA64-BC95-462C-964D-C2D83302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4A361-AA6D-4F32-A0CE-53031466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34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785AB-1F2D-40D9-95F7-3EFB95A0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667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EBC7F-1AFE-4C29-9FE0-34ADAE4A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001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6483B-5166-46E8-BEE9-87EBB83C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1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855FA-8BBB-424C-8541-9EDF62C8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E10F3-305E-4325-BACB-9B848A40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333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3A9D7-E735-4C1D-932C-2CCC23FA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8A5B"/>
                </a:solidFill>
                <a:latin typeface="Microsoft YaHei"/>
                <a:ea typeface="Microsoft YaHei"/>
                <a:cs typeface="Microsoft YaHei"/>
              </a:rPr>
              <a:t>Normalized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01DBF-F1B3-42DA-9F60-8FE2291E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723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38986-0B52-465C-BA52-E8CE1715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Evidence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3C1DC-68C6-4A14-B40E-C611E112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581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9B21D-92E2-4150-96C4-28B6670B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438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EC206D-532B-461F-965C-B7A37C77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F1DA2-09E6-4E21-B029-789E6E5B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0.00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2BCE8-0D70-4470-95E4-025F1A4A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0.40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87A79-9E74-4E2D-ACE7-3A0FE4BD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0.80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635953-CE5C-48C1-B809-884AE88A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007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λ_prompt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D4771-6D42-4BBA-AE46-47B7F5FF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667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6B7D7A-5F13-433E-9365-4A92EF0A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λ_prompt = 1.00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A5715E-6614-4E34-9A42-6CE505E2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D6A1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7D6A1"/>
                </a:solidFill>
                <a:latin typeface="Georgia"/>
                <a:ea typeface="Georgia"/>
                <a:cs typeface="Georgia"/>
              </a:rPr>
              <a:t>NO_EFFECTIVE</a:t>
            </a:r>
          </a:p>
          <a:p xmlns:a="http://schemas.openxmlformats.org/drawingml/2006/main">
            <a:pPr>
              <a:defRPr sz="2100" b="1">
                <a:solidFill>
                  <a:srgbClr val="F7D6A1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F7D6A1"/>
                </a:solidFill>
                <a:latin typeface="Georgia"/>
                <a:ea typeface="Georgia"/>
                <a:cs typeface="Georgia"/>
              </a:rPr>
              <a:t>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1ABAC8-563A-4D13-967B-8B114F36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14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Score 不填 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E61BDE-EC0B-4284-BB4D-1A5EB0A5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RESEARCH CORE FROZEN FOR SUBMISSION · DEVELOPMENT ONLY · AI_PROVISIONAL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9D05A9-0476-4549-8C0C-A040F335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311749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9B8C0F-32B5-4F35-BE3C-7964AA9A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05 · ABLATION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D5625-7731-4B71-932C-881C02DB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What changes when reliability is added?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2A05B-3133-4BD2-AC25-618291DF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每个校正组件都要说明它改变了什么。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45DB1-1E11-47C4-9746-5709E1FF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5538C-027C-4BEA-96B9-7D1AB052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68C23-2FC1-439E-9A1D-52443BD9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34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1E0C5-724E-4898-BB73-7FCC1378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667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FCBF5-A6C1-4DA3-B121-C4AB7872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001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82532-6CB6-4039-98C9-162B43BA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1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B8BF4-596C-4C9E-84F0-099912A3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75ED15-1236-432A-9980-EC0F1206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333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AC778-0251-4867-B507-30035500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148FE-6058-4B56-9045-346AF3F4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09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SETTING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47546-12E1-4D50-852E-C9896EF5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9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WEIGHT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2C4B3-B34E-4F96-8946-0B628D16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COVERAGE / 70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0128E-93A0-41C6-9911-A27A2AB3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9525">
            <a:solidFill>
              <a:srgbClr val="CBD8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B2610-80D5-487F-BAD7-96CBC3BA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8A5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78A5B"/>
                </a:solidFill>
                <a:latin typeface="Georgia"/>
                <a:ea typeface="Georgia"/>
                <a:cs typeface="Georgia"/>
              </a:rPr>
              <a:t>M0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0A7E2A-86E7-4E5B-AA45-C07D3736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05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rPr>
              <a:t>无校正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AF435-1E61-4389-BCCA-0434D31A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16.0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BD7FE8-EF9C-4BDC-8F30-1FFC9F35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05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49A4B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D49A4B"/>
                </a:solidFill>
                <a:latin typeface="Georgia"/>
                <a:ea typeface="Georgia"/>
                <a:cs typeface="Georgia"/>
              </a:rPr>
              <a:t>0.228571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0AA556-AEED-49C5-A000-CF249F24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8A5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78A5B"/>
                </a:solidFill>
                <a:latin typeface="Georgia"/>
                <a:ea typeface="Georgia"/>
                <a:cs typeface="Georgia"/>
              </a:rPr>
              <a:t>M1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F075C-796B-46DD-B5D6-FA8B9221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71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rPr>
              <a:t>置信度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9A119-FD81-4177-B071-8D5D61E2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12.0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918CEC-43E1-489E-A7B7-74215A3A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49A4B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D49A4B"/>
                </a:solidFill>
                <a:latin typeface="Georgia"/>
                <a:ea typeface="Georgia"/>
                <a:cs typeface="Georgia"/>
              </a:rPr>
              <a:t>0.171429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88FB82-2C4A-47E1-9E06-9A8389A1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9525">
            <a:solidFill>
              <a:srgbClr val="CBD8D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B3B4E9-96CE-4B0D-87E7-7EBC8B09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8A5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78A5B"/>
                </a:solidFill>
                <a:latin typeface="Georgia"/>
                <a:ea typeface="Georgia"/>
                <a:cs typeface="Georgia"/>
              </a:rPr>
              <a:t>M2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00B818-88F0-4BE3-A9E0-654B5C04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38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rPr>
              <a:t>加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E09CD3-192F-44B7-8B9C-971F94BD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6.0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FF5269-274C-41F7-955E-AB55F0F3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38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49A4B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D49A4B"/>
                </a:solidFill>
                <a:latin typeface="Georgia"/>
                <a:ea typeface="Georgia"/>
                <a:cs typeface="Georgia"/>
              </a:rPr>
              <a:t>0.085714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5E2985-ED8F-4772-84C0-8070A6B5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8A5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078A5B"/>
                </a:solidFill>
                <a:latin typeface="Georgia"/>
                <a:ea typeface="Georgia"/>
                <a:cs typeface="Georgia"/>
              </a:rPr>
              <a:t>M3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2D6265-3C36-4F3C-8E3C-2A418229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05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rPr>
              <a:t>加 context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ED6ECC-4982-493A-90D1-92BBAF6F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6.0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882CB6-AEA9-41F8-AACF-CF477EE2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05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49A4B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D49A4B"/>
                </a:solidFill>
                <a:latin typeface="Georgia"/>
                <a:ea typeface="Georgia"/>
                <a:cs typeface="Georgia"/>
              </a:rPr>
              <a:t>0.085714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7EFE27-4AE6-4995-A192-E212C490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当前同质 Evidence 结构下，校正改变支持度，归一化 Score 不变。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1D2A06-0CD1-4574-A734-91E7F293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RESEARCH CORE FROZEN FOR SUBMISSION · DEVELOPMENT ONLY · AI_PROVISIONAL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99EBD2-6DDC-4721-B1F3-D54105AC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47942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4315F1-B04E-4491-B2CB-F67F0799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06 · COUNTEREXAMPLES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A305F-65E3-44D2-9CDD-96D2D918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Where can a plausible score mislead us?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3004A-3B76-4B15-9918-F6AECC35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四类记录足以说明为什么需要 Evidence Support。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D30A6-0F58-433E-A86A-5FDA8531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FA63F-66CD-42A5-9C19-337FADC5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3709F-FDE9-4E59-9067-FBE3C25D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34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FA6A9-3D7F-45B5-B492-7CF78B30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667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1AD75-4EF0-4E87-B656-FB2DE245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001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0FEB0-655A-4B2F-B2FB-27948F92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1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24A2B-9DB9-447A-8A3E-391547B0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16417-6A91-490A-BE30-9D4A0918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333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72DFB-FA7A-4242-8625-6D36050F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98AAD-12E2-4698-97B2-66C36F05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574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可判读但来源单一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F0CF7B-E925-4457-AF32-109B794E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8A5B"/>
                </a:solidFill>
                <a:latin typeface="Microsoft YaHei"/>
                <a:ea typeface="Microsoft YaHei"/>
                <a:cs typeface="Microsoft YaHei"/>
              </a:rPr>
              <a:t>prompt_induced = true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67F3E-F27D-4C36-9E13-A2A221D3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57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权重需要折减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21460-B165-4222-BE66-26DC8B4A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9525">
            <a:solidFill>
              <a:srgbClr val="CBD8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DFC9C-D4BC-47DC-93D5-6B02A8C8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CB0C7-D09D-405F-A42F-A85803DA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765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可判读但上下文不足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2F091-FEC7-458D-9422-E70FEE4A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76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8A5B"/>
                </a:solidFill>
                <a:latin typeface="Microsoft YaHei"/>
                <a:ea typeface="Microsoft YaHei"/>
                <a:cs typeface="Microsoft YaHei"/>
              </a:rPr>
              <a:t>context_truncated = true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5D3F7-B95D-4457-8A84-C72D774C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对假设敏感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53779-B4C1-4F35-AE7F-BDF1D946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9525">
            <a:solidFill>
              <a:srgbClr val="CBD8D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362FE7-CE6A-4384-96D0-7D0BDEBF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7E8E8A-398F-4F27-926F-DAE179A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95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NO_EVIDENCE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D39F69-ED6F-4310-911F-032BA4D1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95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8A5B"/>
                </a:solidFill>
                <a:latin typeface="Microsoft YaHei"/>
                <a:ea typeface="Microsoft YaHei"/>
                <a:cs typeface="Microsoft YaHei"/>
              </a:rPr>
              <a:t>无法进入 L1–L6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FD4E1E-3870-406A-AE70-C13F1904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不填 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53A85C-53D4-4270-9678-62E4B03A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9525">
            <a:solidFill>
              <a:srgbClr val="CBD8D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C3076A-B15F-45B0-8965-E4C7400F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6FFE0E-D7A4-4A48-9015-3B1440C5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14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UNDETERMINED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9E8883-3554-46DA-B2F4-056C1F69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14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78A5B"/>
                </a:solidFill>
                <a:latin typeface="Microsoft YaHei"/>
                <a:ea typeface="Microsoft YaHei"/>
                <a:cs typeface="Microsoft YaHei"/>
              </a:rPr>
              <a:t>规则无法安全判定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9E4D35-31CE-464E-B87B-5D5392CA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14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进入人工 Gate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AB687A-44D5-4C9B-8982-379D5260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0"/>
          </a:solidFill>
          <a:ln xmlns:a="http://schemas.openxmlformats.org/drawingml/2006/main" w="9525">
            <a:solidFill>
              <a:srgbClr val="CBD8D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2559E4-4849-405F-8A3D-615D7148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RESEARCH CORE FROZEN FOR SUBMISSION · DEVELOPMENT ONLY · AI_PROVISIONAL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FE886A-4C2D-4601-82D2-7FBE72A9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03299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C59E7C-0E60-490F-A7BB-79755DD3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07 · HUMAN VALIDATION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EA846-5599-4B57-974C-0921623D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Formal starts after human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2DBAA-BFA4-428A-9EE3-1B528C99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当前 Formal AIV 仍为 NOT_AVAILABLE_PENDING_FORMAL_GATE。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56D92-30D4-4711-852C-0E11484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8B924-65A3-4A5B-9C21-1F9871F4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AD438-B6A0-4A8A-9642-51229EE1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34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E1A13-DFAC-4CF6-B9B4-8AAF332F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667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50441-B7B4-43CC-ABE0-F3B8BBB8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001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75E15-3E38-4004-B406-B859E604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1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0A8E3-88A1-4196-ADCC-A8A1115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6BEBA-A152-42C7-943E-5F178F26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333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15377-78DF-4965-AE1E-441AABC7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7463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A7463B"/>
                </a:solidFill>
                <a:latin typeface="Georgia"/>
                <a:ea typeface="Georgia"/>
                <a:cs typeface="Georgia"/>
              </a:rPr>
              <a:t>NOT_AVAILABLE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29D830-09AB-4B3A-B38E-BE10B420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7463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A7463B"/>
                </a:solidFill>
                <a:latin typeface="Georgia"/>
                <a:ea typeface="Georgia"/>
                <a:cs typeface="Georgia"/>
              </a:rPr>
              <a:t>PENDING FORMAL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E83FB-17AD-4BE2-9B36-703412D4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B72C7-2FD8-40C7-9620-9BE22354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R1 / R2 完成后，按冻结阈值运行 Gate。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84918-CA77-4B7D-AEFE-01F9C078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4000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77011-829C-4404-9602-C2F40795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49A4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D49A4B"/>
                </a:solidFill>
                <a:latin typeface="Georgia"/>
                <a:ea typeface="Georgia"/>
                <a:cs typeface="Georgia"/>
              </a:rPr>
              <a:t>R1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771E4-497E-4CCA-904D-5CD94824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19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rPr>
              <a:t>pilot_worksheet_A.csv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22237-0032-4BB0-A04E-CB2D2D4A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67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49A4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D49A4B"/>
                </a:solidFill>
                <a:latin typeface="Georgia"/>
                <a:ea typeface="Georgia"/>
                <a:cs typeface="Georgia"/>
              </a:rPr>
              <a:t>R2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19452-6A64-4301-BB59-B81A8670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67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52E"/>
                </a:solidFill>
                <a:latin typeface="Microsoft YaHei"/>
                <a:ea typeface="Microsoft YaHei"/>
                <a:cs typeface="Microsoft YaHei"/>
              </a:rPr>
              <a:t>≥ 24h retest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A8E0B-BA2D-401D-BD1B-BDBADE0E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338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输出：test-retest reliability、双轴 gap、可执行性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A3A96C-6756-4590-89A3-D314108C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RESEARCH CORE FROZEN FOR SUBMISSION · DEVELOPMENT ONLY · AI_PROVISIONAL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5DD5E4-ADD9-4F07-84C1-BC1FFE0F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25337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631AD-567D-4874-8ECE-9D0ACB2E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49A4B"/>
                </a:solidFill>
                <a:latin typeface="Microsoft YaHei"/>
                <a:ea typeface="Microsoft YaHei"/>
                <a:cs typeface="Microsoft YaHei"/>
              </a:rPr>
              <a:t>08 ·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03234-73EA-4509-AE7F-BA39F24C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One screen. Two questions.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13705-0250-4E84-9C11-ADF75ECA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现场演示只做一件事：同时显示 Score 与 Evidence Support。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158B8-BA98-4CF0-AD48-169D7FE0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B"/>
          </a:solidFill>
          <a:ln xmlns:a="http://schemas.openxmlformats.org/drawingml/2006/main" w="9525">
            <a:solidFill>
              <a:srgbClr val="D49A4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2016E-D9B5-4834-AB73-51CC5130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56916-9534-4BAF-B914-A1203D49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34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3452D-4332-46AE-BEB0-707F0A0A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667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9FC1A-3255-4C13-BAD2-0FD45A4B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001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F3944-7E52-43C2-9B0F-09A7960E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1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48958-15F6-4F50-8010-F8420EB8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3F50E-F534-47A5-8BE4-D546AF46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333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000FE-6295-4FDA-9AF3-EC48337E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762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78A5B"/>
          </a:solidFill>
          <a:ln xmlns:a="http://schemas.openxmlformats.org/drawingml/2006/main" w="9525">
            <a:solidFill>
              <a:srgbClr val="078A5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416E3-EFDA-43A7-B740-733DDBD6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D6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D6A1"/>
                </a:solidFill>
                <a:latin typeface="Microsoft YaHei"/>
                <a:ea typeface="Microsoft YaHei"/>
                <a:cs typeface="Microsoft YaHei"/>
              </a:rPr>
              <a:t>DEVELOPMENT_ONLY · AI_PROVISIONAL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7D256-8BE5-413A-873D-D89419A6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956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70 records / 16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30EA4-27A3-46EE-9D3D-0B26202D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0E9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0E9D9"/>
                </a:solidFill>
                <a:latin typeface="Microsoft YaHei"/>
                <a:ea typeface="Microsoft YaHei"/>
                <a:cs typeface="Microsoft YaHei"/>
              </a:rPr>
              <a:t>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AD554-DC67-490C-95F5-E8E0247B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24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3.5625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13E90-3E51-48BE-ABF8-7A2D6A25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14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0E9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0E9D9"/>
                </a:solidFill>
                <a:latin typeface="Microsoft YaHei"/>
                <a:ea typeface="Microsoft YaHei"/>
                <a:cs typeface="Microsoft YaHei"/>
              </a:rPr>
              <a:t>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CAA60-14C6-4174-94E2-77F8D37B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005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7D6A1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7D6A1"/>
                </a:solidFill>
                <a:latin typeface="Georgia"/>
                <a:ea typeface="Georgia"/>
                <a:cs typeface="Georgia"/>
              </a:rPr>
              <a:t>22.86% → 4.57%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4006D3-0CBD-45E0-AD41-8A9EB0C3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00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2352E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2352E"/>
                </a:solidFill>
                <a:latin typeface="Georgia"/>
                <a:ea typeface="Georgia"/>
                <a:cs typeface="Georgia"/>
              </a:rPr>
              <a:t>λ_prompt = 1.00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4D1319-ED9B-4E82-8A59-C5257BE5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7463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A7463B"/>
                </a:solidFill>
                <a:latin typeface="Georgia"/>
                <a:ea typeface="Georgia"/>
                <a:cs typeface="Georgia"/>
              </a:rPr>
              <a:t>NO_EFFECTIVE_EVIDENCE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F9DFF-68FE-4CA4-AE82-3216E1FB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48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Score 不显示为 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9E33F-7589-4D2E-A195-5B000AED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RESEARCH CORE FROZEN FOR SUBMISSION · DEVELOPMENT ONLY · AI_PROVISIONAL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4446C1-5D36-4E33-82BC-E3488CF5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725509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8A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AC36E-36C3-4D26-B8F3-A6A8486D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CE4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CE4CD"/>
                </a:solidFill>
                <a:latin typeface="Microsoft YaHei"/>
                <a:ea typeface="Microsoft YaHei"/>
                <a:cs typeface="Microsoft YaHei"/>
              </a:rPr>
              <a:t>09 · Submission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58BD6-B70B-47B0-A88B-C86580B9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90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Evidence first.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Then the score.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46011-4864-4BED-AE57-8DDE2022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0E9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0E9D9"/>
                </a:solidFill>
                <a:latin typeface="Microsoft YaHei"/>
                <a:ea typeface="Microsoft YaHei"/>
                <a:cs typeface="Microsoft YaHei"/>
              </a:rPr>
              <a:t>Measurement Problem  →  Evidence Reliability  →  Sensitivity  → 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12EA8-7154-4F19-82A5-BAEC9C7C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6B"/>
          </a:solidFill>
          <a:ln xmlns:a="http://schemas.openxmlformats.org/drawingml/2006/main" w="9525">
            <a:solidFill>
              <a:srgbClr val="F2C2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CF904-BCA1-441E-9AF5-34112300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RESEARCH_CORE_FROZEN_FOR_SUBMISSION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DB793-9149-4698-B517-DDB1CE5A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7D6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7D6A1"/>
                </a:solidFill>
                <a:latin typeface="Microsoft YaHei"/>
                <a:ea typeface="Microsoft YaHei"/>
                <a:cs typeface="Microsoft YaHei"/>
              </a:rPr>
              <a:t>Formal AIV · NOT_AVAILABLE_PENDING_FORMAL_GATE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D9443-5C6C-47D6-B456-E39E300C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43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0E9D9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D0E9D9"/>
                </a:solidFill>
                <a:latin typeface="Georgia"/>
                <a:ea typeface="Georgia"/>
                <a:cs typeface="Georgia"/>
              </a:rPr>
              <a:t>Score stability ≠ Evidence Support stability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E249B-3CA2-44CF-A38D-F403E9D7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9B3"/>
          </a:solidFill>
          <a:ln xmlns:a="http://schemas.openxmlformats.org/drawingml/2006/main" w="9525">
            <a:solidFill>
              <a:srgbClr val="8BD9B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3CED5-FFFF-40DC-954C-7F8EB723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34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9B3"/>
          </a:solidFill>
          <a:ln xmlns:a="http://schemas.openxmlformats.org/drawingml/2006/main" w="9525">
            <a:solidFill>
              <a:srgbClr val="8BD9B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FC031-72F0-4151-8964-56BB42F2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6675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9B3"/>
          </a:solidFill>
          <a:ln xmlns:a="http://schemas.openxmlformats.org/drawingml/2006/main" w="9525">
            <a:solidFill>
              <a:srgbClr val="8BD9B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8950D-5253-4278-8AB2-50357595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800100"/>
            <a:ext cx="114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D9B3"/>
          </a:solidFill>
          <a:ln xmlns:a="http://schemas.openxmlformats.org/drawingml/2006/main" w="9525">
            <a:solidFill>
              <a:srgbClr val="8BD9B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F9CCC-BFE7-44BE-A51E-C4D8DAF2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14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D9B3"/>
          </a:solidFill>
          <a:ln xmlns:a="http://schemas.openxmlformats.org/drawingml/2006/main" w="9525">
            <a:solidFill>
              <a:srgbClr val="8BD9B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D3770-4A3C-44CC-ACEF-2B55F253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12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D9B3"/>
          </a:solidFill>
          <a:ln xmlns:a="http://schemas.openxmlformats.org/drawingml/2006/main" w="9525">
            <a:solidFill>
              <a:srgbClr val="8BD9B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3AF51C-C6A6-4E64-99D1-396B1126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333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D9B3"/>
          </a:solidFill>
          <a:ln xmlns:a="http://schemas.openxmlformats.org/drawingml/2006/main" w="9525">
            <a:solidFill>
              <a:srgbClr val="8BD9B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07047-28F4-497A-967D-8A0CBA6F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RESEARCH CORE FROZEN FOR SUBMISSION · DEVELOPMENT ONLY · AI_PROVISIONAL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E657F-6CEC-4013-B6B6-444E5E42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873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3855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2026-09-26T03:31:19.6870000Z</dcterms:created>
  <dcterms:modified xsi:type="dcterms:W3CDTF">2026-09-26T03:31:19.6870000Z</dcterms:modified>
</coreProperties>
</file>