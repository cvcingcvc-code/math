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2.xml" ContentType="application/vnd.openxmlformats-officedocument.presentationml.slid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ppt/theme/theme2.xml" ContentType="application/vnd.openxmlformats-officedocument.them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2" Type="http://schemas.openxmlformats.org/officeDocument/2006/relationships/slide" Target="slides/slide2.xml" /><Relationship Id="rId12" Type="http://schemas.openxmlformats.org/officeDocument/2006/relationships/presProps" Target="presProps.xml" /><Relationship Id="rId10" Type="http://schemas.openxmlformats.org/officeDocument/2006/relationships/slide" Target="slides/slide10.xml" /><Relationship Id="rId11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tableStyles" Target="tableStyle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/>
          <p:nvPr/>
        </p:nvSpPr>
        <p:spPr>
          <a:xfrm rot="0" flipH="0" flipV="0">
            <a:off x="384048" y="384048"/>
            <a:ext cx="11430000" cy="566928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3" name=""/>
          <p:cNvSpPr txBox="1"/>
          <p:nvPr/>
        </p:nvSpPr>
        <p:spPr>
          <a:xfrm rot="0" flipH="0" flipV="0">
            <a:off x="566928" y="530352"/>
            <a:ext cx="11064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FFFFFF"/>
                </a:solidFill>
                <a:latin typeface="Microsoft YaHei"/>
                <a:ea typeface="Microsoft YaHei"/>
              </a:rPr>
              <a:t>教育 AI 增量价值评价｜现场答辩</a:t>
            </a:r>
          </a:p>
        </p:txBody>
      </p:sp>
      <p:sp>
        <p:nvSpPr>
          <p:cNvPr id="4" name=""/>
          <p:cNvSpPr txBox="1"/>
          <p:nvPr/>
        </p:nvSpPr>
        <p:spPr>
          <a:xfrm rot="0" flipH="0" flipV="0">
            <a:off x="896112" y="1389888"/>
            <a:ext cx="1042416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3400" b="1" dirty="0">
                <a:solidFill>
                  <a:srgbClr val="0E3F8C"/>
                </a:solidFill>
                <a:latin typeface="Microsoft YaHei"/>
                <a:ea typeface="Microsoft YaHei"/>
              </a:rPr>
              <a:t>观察到的结果，不等于可靠证据</a:t>
            </a:r>
          </a:p>
        </p:txBody>
      </p:sp>
      <p:sp>
        <p:nvSpPr>
          <p:cNvPr id="5" name=""/>
          <p:cNvSpPr txBox="1"/>
          <p:nvPr/>
        </p:nvSpPr>
        <p:spPr>
          <a:xfrm rot="0" flipH="0" flipV="0">
            <a:off x="896112" y="2359152"/>
            <a:ext cx="104241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2100" b="1" dirty="0">
                <a:solidFill>
                  <a:srgbClr val="1A2230"/>
                </a:solidFill>
                <a:latin typeface="Microsoft YaHei"/>
                <a:ea typeface="Microsoft YaHei"/>
              </a:rPr>
              <a:t>这个分数，到底有多少证据值得相信？</a:t>
            </a:r>
          </a:p>
        </p:txBody>
      </p:sp>
      <p:sp>
        <p:nvSpPr>
          <p:cNvPr id="6" name=""/>
          <p:cNvSpPr txBox="1"/>
          <p:nvPr/>
        </p:nvSpPr>
        <p:spPr>
          <a:xfrm rot="0" flipH="0" flipV="0">
            <a:off x="896112" y="3017520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50" b="0" dirty="0">
                <a:solidFill>
                  <a:srgbClr val="4A5568"/>
                </a:solidFill>
                <a:latin typeface="Microsoft YaHei"/>
                <a:ea typeface="Microsoft YaHei"/>
              </a:rPr>
              <a:t>当证据缺失、冲突或可信度不一，如何避免把观察值直接当成可信结论？</a:t>
            </a:r>
          </a:p>
        </p:txBody>
      </p:sp>
      <p:sp>
        <p:nvSpPr>
          <p:cNvPr id="7" name=""/>
          <p:cNvSpPr/>
          <p:nvPr/>
        </p:nvSpPr>
        <p:spPr>
          <a:xfrm rot="0" flipH="0" flipV="0">
            <a:off x="896112" y="3639312"/>
            <a:ext cx="8869680" cy="1298448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8" name=""/>
          <p:cNvSpPr/>
          <p:nvPr/>
        </p:nvSpPr>
        <p:spPr>
          <a:xfrm rot="0" flipH="0" flipV="0">
            <a:off x="896112" y="3639312"/>
            <a:ext cx="50292" cy="1298448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9" name=""/>
          <p:cNvSpPr txBox="1"/>
          <p:nvPr/>
        </p:nvSpPr>
        <p:spPr>
          <a:xfrm rot="0" flipH="0" flipV="0">
            <a:off x="1170432" y="3840480"/>
            <a:ext cx="84124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700" b="1" dirty="0">
                <a:solidFill>
                  <a:srgbClr val="1E4FA8"/>
                </a:solidFill>
                <a:latin typeface="Microsoft YaHei"/>
                <a:ea typeface="Microsoft YaHei"/>
              </a:rPr>
              <a:t>Score Stability ≠ Evidence Support Stability</a:t>
            </a:r>
          </a:p>
        </p:txBody>
      </p:sp>
      <p:sp>
        <p:nvSpPr>
          <p:cNvPr id="10" name=""/>
          <p:cNvSpPr txBox="1"/>
          <p:nvPr/>
        </p:nvSpPr>
        <p:spPr>
          <a:xfrm rot="0" flipH="0" flipV="0">
            <a:off x="1170432" y="4334256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900" b="1" dirty="0">
                <a:solidFill>
                  <a:srgbClr val="1A2230"/>
                </a:solidFill>
                <a:latin typeface="Microsoft YaHei"/>
                <a:ea typeface="Microsoft YaHei"/>
              </a:rPr>
              <a:t>分数稳定，不等于证据支撑稳定</a:t>
            </a:r>
          </a:p>
        </p:txBody>
      </p:sp>
      <p:sp>
        <p:nvSpPr>
          <p:cNvPr id="11" name=""/>
          <p:cNvSpPr txBox="1"/>
          <p:nvPr/>
        </p:nvSpPr>
        <p:spPr>
          <a:xfrm rot="0" flipH="0" flipV="0">
            <a:off x="896112" y="5084064"/>
            <a:ext cx="1042416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一句话：我们在补的不是一个更高的分数，</a:t>
            </a:r>
          </a:p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而是「这个分数有多少证据值得相信」。</a:t>
            </a:r>
          </a:p>
        </p:txBody>
      </p:sp>
      <p:sp>
        <p:nvSpPr>
          <p:cNvPr id="12" name=""/>
          <p:cNvSpPr txBox="1"/>
          <p:nvPr/>
        </p:nvSpPr>
        <p:spPr>
          <a:xfrm rot="0" flipH="0" flipV="0">
            <a:off x="896112" y="5669280"/>
            <a:ext cx="1042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800" b="1" dirty="0">
                <a:solidFill>
                  <a:srgbClr val="0E3F8C"/>
                </a:solidFill>
                <a:latin typeface="Microsoft YaHei"/>
                <a:ea typeface="Microsoft YaHei"/>
              </a:rPr>
              <a:t>起名困难队</a:t>
            </a:r>
            <a:r>
              <a:rPr lang="zh-CN" sz="1400" b="0" dirty="0">
                <a:solidFill>
                  <a:srgbClr val="0E3F8C"/>
                </a:solidFill>
                <a:latin typeface="Microsoft YaHei"/>
                <a:ea typeface="Microsoft YaHei"/>
              </a:rPr>
              <a:t>　　</a:t>
            </a:r>
            <a:r>
              <a:rPr lang="zh-CN" sz="1500" b="1" dirty="0">
                <a:solidFill>
                  <a:srgbClr val="1A2230"/>
                </a:solidFill>
                <a:latin typeface="Microsoft YaHei"/>
                <a:ea typeface="Microsoft YaHei"/>
              </a:rPr>
              <a:t>汇报人：张镇源</a:t>
            </a:r>
          </a:p>
        </p:txBody>
      </p:sp>
      <p:sp>
        <p:nvSpPr>
          <p:cNvPr id="13" name=""/>
          <p:cNvSpPr txBox="1"/>
          <p:nvPr/>
        </p:nvSpPr>
        <p:spPr>
          <a:xfrm rot="0" flipH="0" flipV="0">
            <a:off x="384048" y="6089904"/>
            <a:ext cx="114300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状态：</a:t>
            </a: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AI 临时标注</a:t>
            </a:r>
            <a:r>
              <a:rPr lang="en-US" sz="800" b="0" dirty="0">
                <a:solidFill>
                  <a:srgbClr val="8B97A8"/>
                </a:solidFill>
                <a:latin typeface="Microsoft YaHei"/>
                <a:ea typeface="Microsoft YaHei"/>
              </a:rPr>
              <a:t> AI_PROVISIONAL</a:t>
            </a: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 · 仅开发阶段</a:t>
            </a:r>
            <a:r>
              <a:rPr lang="en-US" sz="800" b="0" dirty="0">
                <a:solidFill>
                  <a:srgbClr val="8B97A8"/>
                </a:solidFill>
                <a:latin typeface="Microsoft YaHei"/>
                <a:ea typeface="Microsoft YaHei"/>
              </a:rPr>
              <a:t> DEVELOPMENT_ONLY</a:t>
            </a: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 · 尚未人工验证</a:t>
            </a:r>
            <a:r>
              <a:rPr lang="en-US" sz="800" b="0" dirty="0">
                <a:solidFill>
                  <a:srgbClr val="8B97A8"/>
                </a:solidFill>
                <a:latin typeface="Microsoft YaHei"/>
                <a:ea typeface="Microsoft YaHei"/>
              </a:rPr>
              <a:t> NOT_HUMAN_VALIDATED</a:t>
            </a:r>
          </a:p>
        </p:txBody>
      </p:sp>
      <p:sp>
        <p:nvSpPr>
          <p:cNvPr id="14" name=""/>
          <p:cNvSpPr txBox="1"/>
          <p:nvPr/>
        </p:nvSpPr>
        <p:spPr>
          <a:xfrm rot="0" flipH="0" flipV="0">
            <a:off x="384048" y="6419088"/>
            <a:ext cx="7863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00" b="0" dirty="0">
                <a:solidFill>
                  <a:srgbClr val="8B97A8"/>
                </a:solidFill>
                <a:latin typeface="Microsoft YaHei"/>
                <a:ea typeface="Microsoft YaHei"/>
              </a:rPr>
              <a:t>路演版 · 简体中文</a:t>
            </a:r>
          </a:p>
        </p:txBody>
      </p:sp>
      <p:sp>
        <p:nvSpPr>
          <p:cNvPr id="15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 txBox="1"/>
          <p:nvPr/>
        </p:nvSpPr>
        <p:spPr>
          <a:xfrm rot="0" flipH="0" flipV="0">
            <a:off x="384048" y="420624"/>
            <a:ext cx="114300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3000" b="1" dirty="0">
                <a:solidFill>
                  <a:srgbClr val="0E3F8C"/>
                </a:solidFill>
                <a:latin typeface="Microsoft YaHei"/>
                <a:ea typeface="Microsoft YaHei"/>
              </a:rPr>
              <a:t>两个问题必须分开看</a:t>
            </a:r>
          </a:p>
        </p:txBody>
      </p:sp>
      <p:sp>
        <p:nvSpPr>
          <p:cNvPr id="3" name=""/>
          <p:cNvSpPr txBox="1"/>
          <p:nvPr/>
        </p:nvSpPr>
        <p:spPr>
          <a:xfrm rot="0" flipH="0" flipV="0">
            <a:off x="384048" y="950976"/>
            <a:ext cx="11430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4A5568"/>
                </a:solidFill>
                <a:latin typeface="Microsoft YaHei"/>
                <a:ea typeface="Microsoft YaHei"/>
              </a:rPr>
              <a:t>表现有多高，不等于证据有多可信</a:t>
            </a:r>
          </a:p>
        </p:txBody>
      </p:sp>
      <p:sp>
        <p:nvSpPr>
          <p:cNvPr id="4" name=""/>
          <p:cNvSpPr/>
          <p:nvPr/>
        </p:nvSpPr>
        <p:spPr>
          <a:xfrm rot="0" flipH="0" flipV="0">
            <a:off x="384048" y="1207008"/>
            <a:ext cx="11430000" cy="32004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84048" y="1389888"/>
            <a:ext cx="6665976" cy="4572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66928" y="1837944"/>
            <a:ext cx="6300216" cy="3675888"/>
          </a:xfrm>
          <a:prstGeom prst="rect">
            <a:avLst/>
          </a:prstGeom>
          <a:ln/>
        </p:spPr>
      </p:pic>
      <p:sp>
        <p:nvSpPr>
          <p:cNvPr id="7" name=""/>
          <p:cNvSpPr/>
          <p:nvPr/>
        </p:nvSpPr>
        <p:spPr>
          <a:xfrm rot="0" flipH="0" flipV="0">
            <a:off x="7315200" y="1389888"/>
            <a:ext cx="4379976" cy="45720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8" name=""/>
          <p:cNvSpPr txBox="1"/>
          <p:nvPr/>
        </p:nvSpPr>
        <p:spPr>
          <a:xfrm rot="0" flipH="0" flipV="0">
            <a:off x="7525512" y="1609344"/>
            <a:ext cx="3959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900" b="1" dirty="0">
                <a:solidFill>
                  <a:srgbClr val="0E3F8C"/>
                </a:solidFill>
                <a:latin typeface="Microsoft YaHei"/>
                <a:ea typeface="Microsoft YaHei"/>
              </a:rPr>
              <a:t>两个概念</a:t>
            </a:r>
          </a:p>
        </p:txBody>
      </p:sp>
      <p:sp>
        <p:nvSpPr>
          <p:cNvPr id="9" name=""/>
          <p:cNvSpPr txBox="1"/>
          <p:nvPr/>
        </p:nvSpPr>
        <p:spPr>
          <a:xfrm rot="0" flipH="0" flipV="0">
            <a:off x="7525512" y="2084832"/>
            <a:ext cx="39593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900" b="1" dirty="0">
                <a:solidFill>
                  <a:srgbClr val="1A2230"/>
                </a:solidFill>
                <a:latin typeface="Microsoft YaHei"/>
                <a:ea typeface="Microsoft YaHei"/>
              </a:rPr>
              <a:t>表现有多高</a:t>
            </a:r>
          </a:p>
          <a:p>
            <a:pPr algn="l">
              <a:lnSpc>
                <a:spcPct val="105000"/>
              </a:lnSpc>
            </a:pPr>
            <a:r>
              <a:rPr lang="en-US" sz="1050" b="0" dirty="0">
                <a:solidFill>
                  <a:srgbClr val="8B97A8"/>
                </a:solidFill>
                <a:latin typeface="Microsoft YaHei"/>
                <a:ea typeface="Microsoft YaHei"/>
              </a:rPr>
              <a:t>（Raw Signal）</a:t>
            </a:r>
          </a:p>
        </p:txBody>
      </p:sp>
      <p:sp>
        <p:nvSpPr>
          <p:cNvPr id="10" name=""/>
          <p:cNvSpPr txBox="1"/>
          <p:nvPr/>
        </p:nvSpPr>
        <p:spPr>
          <a:xfrm rot="0" flipH="0" flipV="0">
            <a:off x="7525512" y="2834640"/>
            <a:ext cx="3959352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900" b="1" dirty="0">
                <a:solidFill>
                  <a:srgbClr val="1A2230"/>
                </a:solidFill>
                <a:latin typeface="Microsoft YaHei"/>
                <a:ea typeface="Microsoft YaHei"/>
              </a:rPr>
              <a:t>证据有多可信</a:t>
            </a:r>
          </a:p>
          <a:p>
            <a:pPr algn="l">
              <a:lnSpc>
                <a:spcPct val="105000"/>
              </a:lnSpc>
            </a:pPr>
            <a:r>
              <a:rPr lang="en-US" sz="1050" b="0" dirty="0">
                <a:solidFill>
                  <a:srgbClr val="8B97A8"/>
                </a:solidFill>
                <a:latin typeface="Microsoft YaHei"/>
                <a:ea typeface="Microsoft YaHei"/>
              </a:rPr>
              <a:t>（Evidence Reliability）</a:t>
            </a:r>
          </a:p>
        </p:txBody>
      </p:sp>
      <p:sp>
        <p:nvSpPr>
          <p:cNvPr id="11" name=""/>
          <p:cNvSpPr/>
          <p:nvPr/>
        </p:nvSpPr>
        <p:spPr>
          <a:xfrm rot="0" flipH="0" flipV="0">
            <a:off x="7525512" y="3602736"/>
            <a:ext cx="3959352" cy="109728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525512" y="3602736"/>
            <a:ext cx="45720" cy="109728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/>
          <a:p/>
        </p:txBody>
      </p:sp>
      <p:sp>
        <p:nvSpPr>
          <p:cNvPr id="13" name=""/>
          <p:cNvSpPr txBox="1"/>
          <p:nvPr/>
        </p:nvSpPr>
        <p:spPr>
          <a:xfrm rot="0" flipH="0" flipV="0">
            <a:off x="7754112" y="3767328"/>
            <a:ext cx="3566160" cy="7863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700" b="1" dirty="0">
                <a:solidFill>
                  <a:srgbClr val="D9534F"/>
                </a:solidFill>
                <a:latin typeface="Microsoft YaHei"/>
                <a:ea typeface="Microsoft YaHei"/>
              </a:rPr>
              <a:t>高表现，</a:t>
            </a:r>
          </a:p>
          <a:p>
            <a:pPr algn="l">
              <a:lnSpc>
                <a:spcPct val="105000"/>
              </a:lnSpc>
            </a:pPr>
            <a:r>
              <a:rPr lang="zh-CN" sz="1700" b="1" dirty="0">
                <a:solidFill>
                  <a:srgbClr val="D9534F"/>
                </a:solidFill>
                <a:latin typeface="Microsoft YaHei"/>
                <a:ea typeface="Microsoft YaHei"/>
              </a:rPr>
              <a:t>不一定有高证据支持。</a:t>
            </a:r>
          </a:p>
        </p:txBody>
      </p:sp>
      <p:sp>
        <p:nvSpPr>
          <p:cNvPr id="14" name=""/>
          <p:cNvSpPr txBox="1"/>
          <p:nvPr/>
        </p:nvSpPr>
        <p:spPr>
          <a:xfrm rot="0" flipH="0" flipV="0">
            <a:off x="7525512" y="4864608"/>
            <a:ext cx="395935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100" b="0" dirty="0">
                <a:solidFill>
                  <a:srgbClr val="4A5568"/>
                </a:solidFill>
                <a:latin typeface="Microsoft YaHei"/>
                <a:ea typeface="Microsoft YaHei"/>
              </a:rPr>
              <a:t>归一化分数不变，</a:t>
            </a:r>
          </a:p>
          <a:p>
            <a:pPr algn="l">
              <a:lnSpc>
                <a:spcPct val="105000"/>
              </a:lnSpc>
            </a:pPr>
            <a:r>
              <a:rPr lang="zh-CN" sz="1100" b="0" dirty="0">
                <a:solidFill>
                  <a:srgbClr val="4A5568"/>
                </a:solidFill>
                <a:latin typeface="Microsoft YaHei"/>
                <a:ea typeface="Microsoft YaHei"/>
              </a:rPr>
              <a:t>不代表支持范围不变。</a:t>
            </a:r>
          </a:p>
        </p:txBody>
      </p:sp>
      <p:sp>
        <p:nvSpPr>
          <p:cNvPr id="15" name=""/>
          <p:cNvSpPr txBox="1"/>
          <p:nvPr/>
        </p:nvSpPr>
        <p:spPr>
          <a:xfrm rot="0" flipH="0" flipV="0">
            <a:off x="384048" y="6108192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冻结图 F2 · 原始表现 vs 调整后表现</a:t>
            </a:r>
          </a:p>
        </p:txBody>
      </p:sp>
      <p:sp>
        <p:nvSpPr>
          <p:cNvPr id="16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 txBox="1"/>
          <p:nvPr/>
        </p:nvSpPr>
        <p:spPr>
          <a:xfrm rot="0" flipH="0" flipV="0">
            <a:off x="384048" y="420624"/>
            <a:ext cx="114300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3000" b="1" dirty="0">
                <a:solidFill>
                  <a:srgbClr val="0E3F8C"/>
                </a:solidFill>
                <a:latin typeface="Microsoft YaHei"/>
                <a:ea typeface="Microsoft YaHei"/>
              </a:rPr>
              <a:t>模型链路：从观察到决策</a:t>
            </a:r>
          </a:p>
        </p:txBody>
      </p:sp>
      <p:sp>
        <p:nvSpPr>
          <p:cNvPr id="3" name=""/>
          <p:cNvSpPr txBox="1"/>
          <p:nvPr/>
        </p:nvSpPr>
        <p:spPr>
          <a:xfrm rot="0" flipH="0" flipV="0">
            <a:off x="384048" y="950976"/>
            <a:ext cx="11430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4A5568"/>
                </a:solidFill>
                <a:latin typeface="Microsoft YaHei"/>
                <a:ea typeface="Microsoft YaHei"/>
              </a:rPr>
              <a:t>证据可靠性如何进入评价</a:t>
            </a:r>
          </a:p>
        </p:txBody>
      </p:sp>
      <p:sp>
        <p:nvSpPr>
          <p:cNvPr id="4" name=""/>
          <p:cNvSpPr/>
          <p:nvPr/>
        </p:nvSpPr>
        <p:spPr>
          <a:xfrm rot="0" flipH="0" flipV="0">
            <a:off x="384048" y="1207008"/>
            <a:ext cx="11430000" cy="32004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84048" y="1325880"/>
            <a:ext cx="6400800" cy="3931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66928" y="1508760"/>
            <a:ext cx="6035040" cy="3520440"/>
          </a:xfrm>
          <a:prstGeom prst="rect">
            <a:avLst/>
          </a:prstGeom>
          <a:ln/>
        </p:spPr>
      </p:pic>
      <p:sp>
        <p:nvSpPr>
          <p:cNvPr id="7" name=""/>
          <p:cNvSpPr/>
          <p:nvPr/>
        </p:nvSpPr>
        <p:spPr>
          <a:xfrm rot="0" flipH="0" flipV="0">
            <a:off x="6995160" y="1325880"/>
            <a:ext cx="4700016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8" name=""/>
          <p:cNvSpPr txBox="1"/>
          <p:nvPr/>
        </p:nvSpPr>
        <p:spPr>
          <a:xfrm rot="0" flipH="0" flipV="0">
            <a:off x="7205472" y="1481328"/>
            <a:ext cx="42793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0E3F8C"/>
                </a:solidFill>
                <a:latin typeface="Microsoft YaHei"/>
                <a:ea typeface="Microsoft YaHei"/>
              </a:rPr>
              <a:t>支持权重由四个因子决定</a:t>
            </a:r>
          </a:p>
        </p:txBody>
      </p:sp>
      <p:sp>
        <p:nvSpPr>
          <p:cNvPr id="9" name=""/>
          <p:cNvSpPr txBox="1"/>
          <p:nvPr/>
        </p:nvSpPr>
        <p:spPr>
          <a:xfrm rot="0" flipH="0" flipV="0">
            <a:off x="7205472" y="1847088"/>
            <a:ext cx="4279392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A2230"/>
                </a:solidFill>
                <a:latin typeface="Microsoft YaHei"/>
                <a:ea typeface="Microsoft YaHei"/>
              </a:rPr>
              <a:t>可判读性</a:t>
            </a:r>
          </a:p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A2230"/>
                </a:solidFill>
                <a:latin typeface="Microsoft YaHei"/>
                <a:ea typeface="Microsoft YaHei"/>
              </a:rPr>
              <a:t>× 标注置信度</a:t>
            </a:r>
          </a:p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A2230"/>
                </a:solidFill>
                <a:latin typeface="Microsoft YaHei"/>
                <a:ea typeface="Microsoft YaHei"/>
              </a:rPr>
              <a:t>× AI 提示风险</a:t>
            </a:r>
          </a:p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A2230"/>
                </a:solidFill>
                <a:latin typeface="Microsoft YaHei"/>
                <a:ea typeface="Microsoft YaHei"/>
              </a:rPr>
              <a:t>× 上下文风险</a:t>
            </a:r>
          </a:p>
        </p:txBody>
      </p:sp>
      <p:sp>
        <p:nvSpPr>
          <p:cNvPr id="10" name=""/>
          <p:cNvSpPr txBox="1"/>
          <p:nvPr/>
        </p:nvSpPr>
        <p:spPr>
          <a:xfrm rot="0" flipH="0" flipV="0">
            <a:off x="7205472" y="4315968"/>
            <a:ext cx="427939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（后两项为风险折减）</a:t>
            </a:r>
          </a:p>
          <a:p>
            <a:pPr algn="l">
              <a:lnSpc>
                <a:spcPct val="105000"/>
              </a:lnSpc>
            </a:pPr>
            <a:r>
              <a:rPr lang="en-US" sz="850" b="0" dirty="0">
                <a:solidFill>
                  <a:srgbClr val="8B97A8"/>
                </a:solidFill>
                <a:latin typeface="Microsoft YaHei"/>
                <a:ea typeface="Microsoft YaHei"/>
              </a:rPr>
              <a:t>Observability · Confidence</a:t>
            </a:r>
          </a:p>
          <a:p>
            <a:pPr algn="l">
              <a:lnSpc>
                <a:spcPct val="105000"/>
              </a:lnSpc>
            </a:pPr>
            <a:r>
              <a:rPr lang="en-US" sz="850" b="0" dirty="0">
                <a:solidFill>
                  <a:srgbClr val="8B97A8"/>
                </a:solidFill>
                <a:latin typeface="Microsoft YaHei"/>
                <a:ea typeface="Microsoft YaHei"/>
              </a:rPr>
              <a:t>· Prompt risk · Context risk</a:t>
            </a:r>
          </a:p>
        </p:txBody>
      </p:sp>
      <p:sp>
        <p:nvSpPr>
          <p:cNvPr id="11" name=""/>
          <p:cNvSpPr/>
          <p:nvPr/>
        </p:nvSpPr>
        <p:spPr>
          <a:xfrm rot="0" flipH="0" flipV="0">
            <a:off x="384048" y="5394960"/>
            <a:ext cx="11430000" cy="713232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12" name=""/>
          <p:cNvSpPr txBox="1"/>
          <p:nvPr/>
        </p:nvSpPr>
        <p:spPr>
          <a:xfrm rot="0" flipH="0" flipV="0">
            <a:off x="566928" y="5541264"/>
            <a:ext cx="11064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300" b="0" dirty="0">
                <a:solidFill>
                  <a:srgbClr val="0E3F8C"/>
                </a:solidFill>
                <a:latin typeface="Microsoft YaHei"/>
                <a:ea typeface="Microsoft YaHei"/>
              </a:rPr>
              <a:t>w</a:t>
            </a:r>
            <a:r>
              <a:rPr lang="zh-CN" sz="900" b="0" dirty="0">
                <a:solidFill>
                  <a:srgbClr val="0E3F8C"/>
                </a:solidFill>
                <a:latin typeface="Microsoft YaHei"/>
                <a:ea typeface="Microsoft YaHei"/>
              </a:rPr>
              <a:t>ᵢ</a:t>
            </a:r>
            <a:r>
              <a:rPr lang="en-US" sz="1300" b="0" dirty="0">
                <a:solidFill>
                  <a:srgbClr val="0E3F8C"/>
                </a:solidFill>
                <a:latin typeface="Microsoft YaHei"/>
                <a:ea typeface="Microsoft YaHei"/>
              </a:rPr>
              <a:t> = I(observableᵢ) · cᵢ · (1 − λprompt·pᵢ) · (1 − λcontext·tᵢ)</a:t>
            </a:r>
            <a:r>
              <a:rPr lang="zh-CN" sz="1200" b="0" dirty="0">
                <a:solidFill>
                  <a:srgbClr val="0E3F8C"/>
                </a:solidFill>
                <a:latin typeface="Microsoft YaHei"/>
                <a:ea typeface="Microsoft YaHei"/>
              </a:rPr>
              <a:t>        </a:t>
            </a:r>
            <a:r>
              <a:rPr lang="en-US" sz="1300" b="0" dirty="0">
                <a:solidFill>
                  <a:srgbClr val="0E3F8C"/>
                </a:solidFill>
                <a:latin typeface="Microsoft YaHei"/>
                <a:ea typeface="Microsoft YaHei"/>
              </a:rPr>
              <a:t>Adjustedᵢ = Rawᵢ × wᵢ</a:t>
            </a:r>
            <a:r>
              <a:rPr lang="zh-CN" sz="1200" b="0" dirty="0">
                <a:solidFill>
                  <a:srgbClr val="0E3F8C"/>
                </a:solidFill>
                <a:latin typeface="Microsoft YaHei"/>
                <a:ea typeface="Microsoft YaHei"/>
              </a:rPr>
              <a:t>        </a:t>
            </a:r>
            <a:r>
              <a:rPr lang="en-US" sz="1300" b="0" dirty="0">
                <a:solidFill>
                  <a:srgbClr val="0E3F8C"/>
                </a:solidFill>
                <a:latin typeface="Microsoft YaHei"/>
                <a:ea typeface="Microsoft YaHei"/>
              </a:rPr>
              <a:t>Ceff = Σwᵢ / N</a:t>
            </a:r>
          </a:p>
        </p:txBody>
      </p:sp>
      <p:sp>
        <p:nvSpPr>
          <p:cNvPr id="13" name=""/>
          <p:cNvSpPr txBox="1"/>
          <p:nvPr/>
        </p:nvSpPr>
        <p:spPr>
          <a:xfrm rot="0" flipH="0" flipV="0">
            <a:off x="384048" y="6254496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050" b="0" dirty="0">
                <a:solidFill>
                  <a:srgbClr val="4A5568"/>
                </a:solidFill>
                <a:latin typeface="Microsoft YaHei"/>
                <a:ea typeface="Microsoft YaHei"/>
              </a:rPr>
              <a:t>Reliability 是支持权重，不是概率，也不是因果系数。</a:t>
            </a:r>
          </a:p>
        </p:txBody>
      </p:sp>
      <p:sp>
        <p:nvSpPr>
          <p:cNvPr id="14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 txBox="1"/>
          <p:nvPr/>
        </p:nvSpPr>
        <p:spPr>
          <a:xfrm rot="0" flipH="0" flipV="0">
            <a:off x="384048" y="420624"/>
            <a:ext cx="114300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3000" b="1" dirty="0">
                <a:solidFill>
                  <a:srgbClr val="0E3F8C"/>
                </a:solidFill>
                <a:latin typeface="Microsoft YaHei"/>
                <a:ea typeface="Microsoft YaHei"/>
              </a:rPr>
              <a:t>70 条开发记录的证据分布</a:t>
            </a:r>
          </a:p>
        </p:txBody>
      </p:sp>
      <p:sp>
        <p:nvSpPr>
          <p:cNvPr id="3" name=""/>
          <p:cNvSpPr txBox="1"/>
          <p:nvPr/>
        </p:nvSpPr>
        <p:spPr>
          <a:xfrm rot="0" flipH="0" flipV="0">
            <a:off x="384048" y="950976"/>
            <a:ext cx="11430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4A5568"/>
                </a:solidFill>
                <a:latin typeface="Microsoft YaHei"/>
                <a:ea typeface="Microsoft YaHei"/>
              </a:rPr>
              <a:t>可判读与不可判读必须分别报告</a:t>
            </a:r>
          </a:p>
        </p:txBody>
      </p:sp>
      <p:sp>
        <p:nvSpPr>
          <p:cNvPr id="4" name=""/>
          <p:cNvSpPr/>
          <p:nvPr/>
        </p:nvSpPr>
        <p:spPr>
          <a:xfrm rot="0" flipH="0" flipV="0">
            <a:off x="384048" y="1207008"/>
            <a:ext cx="11430000" cy="32004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84048" y="1417320"/>
            <a:ext cx="3657600" cy="2331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6" name=""/>
          <p:cNvSpPr txBox="1"/>
          <p:nvPr/>
        </p:nvSpPr>
        <p:spPr>
          <a:xfrm rot="0" flipH="0" flipV="0">
            <a:off x="658368" y="164592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5400" b="1" dirty="0">
                <a:solidFill>
                  <a:srgbClr val="0E3F8C"/>
                </a:solidFill>
                <a:latin typeface="Microsoft YaHei"/>
                <a:ea typeface="Microsoft YaHei"/>
              </a:rPr>
              <a:t>70</a:t>
            </a:r>
          </a:p>
        </p:txBody>
      </p:sp>
      <p:sp>
        <p:nvSpPr>
          <p:cNvPr id="7" name=""/>
          <p:cNvSpPr txBox="1"/>
          <p:nvPr/>
        </p:nvSpPr>
        <p:spPr>
          <a:xfrm rot="0" flipH="0" flipV="0">
            <a:off x="658368" y="2697480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800" b="1" dirty="0">
                <a:solidFill>
                  <a:srgbClr val="1A2230"/>
                </a:solidFill>
                <a:latin typeface="Microsoft YaHei"/>
                <a:ea typeface="Microsoft YaHei"/>
              </a:rPr>
              <a:t>70 条开发记录</a:t>
            </a:r>
          </a:p>
        </p:txBody>
      </p:sp>
      <p:sp>
        <p:nvSpPr>
          <p:cNvPr id="8" name=""/>
          <p:cNvSpPr txBox="1"/>
          <p:nvPr/>
        </p:nvSpPr>
        <p:spPr>
          <a:xfrm rot="0" flipH="0" flipV="0">
            <a:off x="658368" y="3127248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（AI provisional records）</a:t>
            </a:r>
          </a:p>
        </p:txBody>
      </p:sp>
      <p:sp>
        <p:nvSpPr>
          <p:cNvPr id="9" name=""/>
          <p:cNvSpPr/>
          <p:nvPr/>
        </p:nvSpPr>
        <p:spPr>
          <a:xfrm rot="0" flipH="0" flipV="0">
            <a:off x="4270248" y="1417320"/>
            <a:ext cx="3657600" cy="2331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10" name=""/>
          <p:cNvSpPr txBox="1"/>
          <p:nvPr/>
        </p:nvSpPr>
        <p:spPr>
          <a:xfrm rot="0" flipH="0" flipV="0">
            <a:off x="4544568" y="164592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5400" b="1" dirty="0">
                <a:solidFill>
                  <a:srgbClr val="0E3F8C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11" name=""/>
          <p:cNvSpPr txBox="1"/>
          <p:nvPr/>
        </p:nvSpPr>
        <p:spPr>
          <a:xfrm rot="0" flipH="0" flipV="0">
            <a:off x="4544568" y="2697480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800" b="1" dirty="0">
                <a:solidFill>
                  <a:srgbClr val="1A2230"/>
                </a:solidFill>
                <a:latin typeface="Microsoft YaHei"/>
                <a:ea typeface="Microsoft YaHei"/>
              </a:rPr>
              <a:t>16 条可判读证据</a:t>
            </a:r>
          </a:p>
        </p:txBody>
      </p:sp>
      <p:sp>
        <p:nvSpPr>
          <p:cNvPr id="12" name=""/>
          <p:cNvSpPr txBox="1"/>
          <p:nvPr/>
        </p:nvSpPr>
        <p:spPr>
          <a:xfrm rot="0" flipH="0" flipV="0">
            <a:off x="4544568" y="3127248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（readable evidence）</a:t>
            </a:r>
          </a:p>
        </p:txBody>
      </p:sp>
      <p:sp>
        <p:nvSpPr>
          <p:cNvPr id="13" name=""/>
          <p:cNvSpPr/>
          <p:nvPr/>
        </p:nvSpPr>
        <p:spPr>
          <a:xfrm rot="0" flipH="0" flipV="0">
            <a:off x="8156448" y="1417320"/>
            <a:ext cx="3657600" cy="2331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14" name=""/>
          <p:cNvSpPr txBox="1"/>
          <p:nvPr/>
        </p:nvSpPr>
        <p:spPr>
          <a:xfrm rot="0" flipH="0" flipV="0">
            <a:off x="8430768" y="164592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5400" b="1" dirty="0">
                <a:solidFill>
                  <a:srgbClr val="D9534F"/>
                </a:solidFill>
                <a:latin typeface="Microsoft YaHei"/>
                <a:ea typeface="Microsoft YaHei"/>
              </a:rPr>
              <a:t>54</a:t>
            </a:r>
          </a:p>
        </p:txBody>
      </p:sp>
      <p:sp>
        <p:nvSpPr>
          <p:cNvPr id="15" name=""/>
          <p:cNvSpPr txBox="1"/>
          <p:nvPr/>
        </p:nvSpPr>
        <p:spPr>
          <a:xfrm rot="0" flipH="0" flipV="0">
            <a:off x="8430768" y="2697480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800" b="1" dirty="0">
                <a:solidFill>
                  <a:srgbClr val="1A2230"/>
                </a:solidFill>
                <a:latin typeface="Microsoft YaHei"/>
                <a:ea typeface="Microsoft YaHei"/>
              </a:rPr>
              <a:t>54 条无有效证据</a:t>
            </a:r>
          </a:p>
        </p:txBody>
      </p:sp>
      <p:sp>
        <p:nvSpPr>
          <p:cNvPr id="16" name=""/>
          <p:cNvSpPr txBox="1"/>
          <p:nvPr/>
        </p:nvSpPr>
        <p:spPr>
          <a:xfrm rot="0" flipH="0" flipV="0">
            <a:off x="8430768" y="3127248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（NO_EFFECTIVE_EVIDENCE）</a:t>
            </a:r>
          </a:p>
        </p:txBody>
      </p:sp>
      <p:sp>
        <p:nvSpPr>
          <p:cNvPr id="17" name=""/>
          <p:cNvSpPr/>
          <p:nvPr/>
        </p:nvSpPr>
        <p:spPr>
          <a:xfrm rot="0" flipH="0" flipV="0">
            <a:off x="384048" y="3950208"/>
            <a:ext cx="11430000" cy="1481328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/>
          <a:p/>
        </p:txBody>
      </p:sp>
      <p:sp>
        <p:nvSpPr>
          <p:cNvPr id="18" name=""/>
          <p:cNvSpPr/>
          <p:nvPr/>
        </p:nvSpPr>
        <p:spPr>
          <a:xfrm rot="0" flipH="0" flipV="0">
            <a:off x="384048" y="3950208"/>
            <a:ext cx="50292" cy="1481328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/>
          <a:p/>
        </p:txBody>
      </p:sp>
      <p:sp>
        <p:nvSpPr>
          <p:cNvPr id="19" name=""/>
          <p:cNvSpPr txBox="1"/>
          <p:nvPr/>
        </p:nvSpPr>
        <p:spPr>
          <a:xfrm rot="0" flipH="0" flipV="0">
            <a:off x="685800" y="4133088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2600" b="1" dirty="0">
                <a:solidFill>
                  <a:srgbClr val="D9534F"/>
                </a:solidFill>
                <a:latin typeface="Microsoft YaHei"/>
                <a:ea typeface="Microsoft YaHei"/>
              </a:rPr>
              <a:t>54 不是 54 个零分。</a:t>
            </a:r>
          </a:p>
        </p:txBody>
      </p:sp>
      <p:sp>
        <p:nvSpPr>
          <p:cNvPr id="20" name=""/>
          <p:cNvSpPr txBox="1"/>
          <p:nvPr/>
        </p:nvSpPr>
        <p:spPr>
          <a:xfrm rot="0" flipH="0" flipV="0">
            <a:off x="685800" y="4773168"/>
            <a:ext cx="108813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800" b="1" dirty="0">
                <a:solidFill>
                  <a:srgbClr val="1A2230"/>
                </a:solidFill>
                <a:latin typeface="Microsoft YaHei"/>
                <a:ea typeface="Microsoft YaHei"/>
              </a:rPr>
              <a:t>而是 54 条没有足够证据进行可靠数值判断的记录。</a:t>
            </a:r>
          </a:p>
        </p:txBody>
      </p:sp>
      <p:sp>
        <p:nvSpPr>
          <p:cNvPr id="21" name=""/>
          <p:cNvSpPr txBox="1"/>
          <p:nvPr/>
        </p:nvSpPr>
        <p:spPr>
          <a:xfrm rot="0" flipH="0" flipV="0">
            <a:off x="384048" y="5614416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100" b="0" dirty="0">
                <a:solidFill>
                  <a:srgbClr val="4A5568"/>
                </a:solidFill>
                <a:latin typeface="Microsoft YaHei"/>
                <a:ea typeface="Microsoft YaHei"/>
              </a:rPr>
              <a:t>其中 19 条无可判读证据、35 条证据不确定；二者合计 54，均不填 0。</a:t>
            </a:r>
          </a:p>
        </p:txBody>
      </p:sp>
      <p:sp>
        <p:nvSpPr>
          <p:cNvPr id="22" name=""/>
          <p:cNvSpPr txBox="1"/>
          <p:nvPr/>
        </p:nvSpPr>
        <p:spPr>
          <a:xfrm rot="0" flipH="0" flipV="0">
            <a:off x="384048" y="6419088"/>
            <a:ext cx="7863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数据状态：AI 临时标注 · 仅开发阶段</a:t>
            </a:r>
          </a:p>
        </p:txBody>
      </p:sp>
      <p:sp>
        <p:nvSpPr>
          <p:cNvPr id="23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 txBox="1"/>
          <p:nvPr/>
        </p:nvSpPr>
        <p:spPr>
          <a:xfrm rot="0" flipH="0" flipV="0">
            <a:off x="384048" y="420624"/>
            <a:ext cx="114300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2600" b="1" dirty="0">
                <a:solidFill>
                  <a:srgbClr val="0E3F8C"/>
                </a:solidFill>
                <a:latin typeface="Microsoft YaHei"/>
                <a:ea typeface="Microsoft YaHei"/>
              </a:rPr>
              <a:t>分数没有变化，但支撑这个分数的证据明显减少</a:t>
            </a:r>
          </a:p>
        </p:txBody>
      </p:sp>
      <p:sp>
        <p:nvSpPr>
          <p:cNvPr id="3" name=""/>
          <p:cNvSpPr txBox="1"/>
          <p:nvPr/>
        </p:nvSpPr>
        <p:spPr>
          <a:xfrm rot="0" flipH="0" flipV="0">
            <a:off x="384048" y="950976"/>
            <a:ext cx="11430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1" dirty="0">
                <a:solidFill>
                  <a:srgbClr val="D9534F"/>
                </a:solidFill>
                <a:latin typeface="Microsoft YaHei"/>
                <a:ea typeface="Microsoft YaHei"/>
              </a:rPr>
              <a:t>这是全场最重要的一页：分数稳定 ≠ 证据支撑稳定</a:t>
            </a:r>
          </a:p>
        </p:txBody>
      </p:sp>
      <p:sp>
        <p:nvSpPr>
          <p:cNvPr id="4" name=""/>
          <p:cNvSpPr/>
          <p:nvPr/>
        </p:nvSpPr>
        <p:spPr>
          <a:xfrm rot="0" flipH="0" flipV="0">
            <a:off x="384048" y="1207008"/>
            <a:ext cx="11430000" cy="32004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84048" y="1389888"/>
            <a:ext cx="6400800" cy="3858768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66928" y="1572768"/>
            <a:ext cx="6035040" cy="3520440"/>
          </a:xfrm>
          <a:prstGeom prst="rect">
            <a:avLst/>
          </a:prstGeom>
          <a:ln/>
        </p:spPr>
      </p:pic>
      <p:sp>
        <p:nvSpPr>
          <p:cNvPr id="7" name=""/>
          <p:cNvSpPr/>
          <p:nvPr/>
        </p:nvSpPr>
        <p:spPr>
          <a:xfrm rot="0" flipH="0" flipV="0">
            <a:off x="6995160" y="1389888"/>
            <a:ext cx="4700016" cy="3858768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8" name=""/>
          <p:cNvSpPr txBox="1"/>
          <p:nvPr/>
        </p:nvSpPr>
        <p:spPr>
          <a:xfrm rot="0" flipH="0" flipV="0">
            <a:off x="7205472" y="1554480"/>
            <a:ext cx="42793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400" b="1" dirty="0">
                <a:solidFill>
                  <a:srgbClr val="0E3F8C"/>
                </a:solidFill>
                <a:latin typeface="Microsoft YaHei"/>
                <a:ea typeface="Microsoft YaHei"/>
              </a:rPr>
              <a:t>三项按重要性排序</a:t>
            </a:r>
          </a:p>
        </p:txBody>
      </p:sp>
      <p:sp>
        <p:nvSpPr>
          <p:cNvPr id="9" name=""/>
          <p:cNvSpPr txBox="1"/>
          <p:nvPr/>
        </p:nvSpPr>
        <p:spPr>
          <a:xfrm rot="0" flipH="0" flipV="0">
            <a:off x="7205472" y="1920240"/>
            <a:ext cx="427939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4A5568"/>
                </a:solidFill>
                <a:latin typeface="Microsoft YaHei"/>
                <a:ea typeface="Microsoft YaHei"/>
              </a:rPr>
              <a:t>① 有效支持</a:t>
            </a:r>
          </a:p>
        </p:txBody>
      </p:sp>
      <p:sp>
        <p:nvSpPr>
          <p:cNvPr id="10" name=""/>
          <p:cNvSpPr txBox="1"/>
          <p:nvPr/>
        </p:nvSpPr>
        <p:spPr>
          <a:xfrm rot="0" flipH="0" flipV="0">
            <a:off x="7205472" y="2176272"/>
            <a:ext cx="42793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900" b="1" dirty="0">
                <a:solidFill>
                  <a:srgbClr val="1E4FA8"/>
                </a:solidFill>
                <a:latin typeface="Microsoft YaHei"/>
                <a:ea typeface="Microsoft YaHei"/>
              </a:rPr>
              <a:t>16 → 12 → 6 → 6</a:t>
            </a:r>
          </a:p>
        </p:txBody>
      </p:sp>
      <p:sp>
        <p:nvSpPr>
          <p:cNvPr id="11" name=""/>
          <p:cNvSpPr txBox="1"/>
          <p:nvPr/>
        </p:nvSpPr>
        <p:spPr>
          <a:xfrm rot="0" flipH="0" flipV="0">
            <a:off x="7205472" y="2670048"/>
            <a:ext cx="427939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4A5568"/>
                </a:solidFill>
                <a:latin typeface="Microsoft YaHei"/>
                <a:ea typeface="Microsoft YaHei"/>
              </a:rPr>
              <a:t>② 有效覆盖率</a:t>
            </a:r>
          </a:p>
        </p:txBody>
      </p:sp>
      <p:sp>
        <p:nvSpPr>
          <p:cNvPr id="12" name=""/>
          <p:cNvSpPr txBox="1"/>
          <p:nvPr/>
        </p:nvSpPr>
        <p:spPr>
          <a:xfrm rot="0" flipH="0" flipV="0">
            <a:off x="7205472" y="2926080"/>
            <a:ext cx="42793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900" b="1" dirty="0">
                <a:solidFill>
                  <a:srgbClr val="1E4FA8"/>
                </a:solidFill>
                <a:latin typeface="Microsoft YaHei"/>
                <a:ea typeface="Microsoft YaHei"/>
              </a:rPr>
              <a:t>22.86% → 8.57%</a:t>
            </a:r>
          </a:p>
        </p:txBody>
      </p:sp>
      <p:sp>
        <p:nvSpPr>
          <p:cNvPr id="13" name=""/>
          <p:cNvSpPr txBox="1"/>
          <p:nvPr/>
        </p:nvSpPr>
        <p:spPr>
          <a:xfrm rot="0" flipH="0" flipV="0">
            <a:off x="7205472" y="3328416"/>
            <a:ext cx="42793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850" b="0" dirty="0">
                <a:solidFill>
                  <a:srgbClr val="8B97A8"/>
                </a:solidFill>
                <a:latin typeface="Microsoft YaHei"/>
                <a:ea typeface="Microsoft YaHei"/>
              </a:rPr>
              <a:t>0.228571 → 0.171429</a:t>
            </a:r>
          </a:p>
          <a:p>
            <a:pPr algn="l">
              <a:lnSpc>
                <a:spcPct val="105000"/>
              </a:lnSpc>
            </a:pPr>
            <a:r>
              <a:rPr lang="en-US" sz="850" b="0" dirty="0">
                <a:solidFill>
                  <a:srgbClr val="8B97A8"/>
                </a:solidFill>
                <a:latin typeface="Microsoft YaHei"/>
                <a:ea typeface="Microsoft YaHei"/>
              </a:rPr>
              <a:t>→ 0.085714 → 0.085714</a:t>
            </a:r>
          </a:p>
        </p:txBody>
      </p:sp>
      <p:sp>
        <p:nvSpPr>
          <p:cNvPr id="14" name=""/>
          <p:cNvSpPr txBox="1"/>
          <p:nvPr/>
        </p:nvSpPr>
        <p:spPr>
          <a:xfrm rot="0" flipH="0" flipV="0">
            <a:off x="7205472" y="3712464"/>
            <a:ext cx="427939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4A5568"/>
                </a:solidFill>
                <a:latin typeface="Microsoft YaHei"/>
                <a:ea typeface="Microsoft YaHei"/>
              </a:rPr>
              <a:t>③ 分数</a:t>
            </a:r>
          </a:p>
        </p:txBody>
      </p:sp>
      <p:sp>
        <p:nvSpPr>
          <p:cNvPr id="15" name=""/>
          <p:cNvSpPr txBox="1"/>
          <p:nvPr/>
        </p:nvSpPr>
        <p:spPr>
          <a:xfrm rot="0" flipH="0" flipV="0">
            <a:off x="7205472" y="3968496"/>
            <a:ext cx="42793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900" b="1" dirty="0">
                <a:solidFill>
                  <a:srgbClr val="4A5568"/>
                </a:solidFill>
                <a:latin typeface="Microsoft YaHei"/>
                <a:ea typeface="Microsoft YaHei"/>
              </a:rPr>
              <a:t>3.5625 → 3.5625</a:t>
            </a:r>
          </a:p>
        </p:txBody>
      </p:sp>
      <p:sp>
        <p:nvSpPr>
          <p:cNvPr id="16" name=""/>
          <p:cNvSpPr txBox="1"/>
          <p:nvPr/>
        </p:nvSpPr>
        <p:spPr>
          <a:xfrm rot="0" flipH="0" flipV="0">
            <a:off x="7205472" y="4498848"/>
            <a:ext cx="4279392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050" b="0" dirty="0">
                <a:solidFill>
                  <a:srgbClr val="4A5568"/>
                </a:solidFill>
                <a:latin typeface="Microsoft YaHei"/>
                <a:ea typeface="Microsoft YaHei"/>
              </a:rPr>
              <a:t>支持与覆盖率下降，</a:t>
            </a:r>
          </a:p>
          <a:p>
            <a:pPr algn="l">
              <a:lnSpc>
                <a:spcPct val="105000"/>
              </a:lnSpc>
            </a:pPr>
            <a:r>
              <a:rPr lang="zh-CN" sz="1050" b="0" dirty="0">
                <a:solidFill>
                  <a:srgbClr val="4A5568"/>
                </a:solidFill>
                <a:latin typeface="Microsoft YaHei"/>
                <a:ea typeface="Microsoft YaHei"/>
              </a:rPr>
              <a:t>分数保持不变。</a:t>
            </a:r>
          </a:p>
        </p:txBody>
      </p:sp>
      <p:sp>
        <p:nvSpPr>
          <p:cNvPr id="17" name=""/>
          <p:cNvSpPr/>
          <p:nvPr/>
        </p:nvSpPr>
        <p:spPr>
          <a:xfrm rot="0" flipH="0" flipV="0">
            <a:off x="384048" y="5394960"/>
            <a:ext cx="11430000" cy="512064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/>
          <a:p/>
        </p:txBody>
      </p:sp>
      <p:sp>
        <p:nvSpPr>
          <p:cNvPr id="18" name=""/>
          <p:cNvSpPr/>
          <p:nvPr/>
        </p:nvSpPr>
        <p:spPr>
          <a:xfrm rot="0" flipH="0" flipV="0">
            <a:off x="384048" y="5394960"/>
            <a:ext cx="50292" cy="5120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/>
          <a:p/>
        </p:txBody>
      </p:sp>
      <p:sp>
        <p:nvSpPr>
          <p:cNvPr id="19" name=""/>
          <p:cNvSpPr txBox="1"/>
          <p:nvPr/>
        </p:nvSpPr>
        <p:spPr>
          <a:xfrm rot="0" flipH="0" flipV="0">
            <a:off x="685800" y="5522976"/>
            <a:ext cx="108813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600" b="1" dirty="0">
                <a:solidFill>
                  <a:srgbClr val="D9534F"/>
                </a:solidFill>
                <a:latin typeface="Microsoft YaHei"/>
                <a:ea typeface="Microsoft YaHei"/>
              </a:rPr>
              <a:t>分数稳定 ≠ 证据支撑稳定</a:t>
            </a:r>
          </a:p>
        </p:txBody>
      </p:sp>
      <p:sp>
        <p:nvSpPr>
          <p:cNvPr id="20" name=""/>
          <p:cNvSpPr txBox="1"/>
          <p:nvPr/>
        </p:nvSpPr>
        <p:spPr>
          <a:xfrm rot="0" flipH="0" flipV="0">
            <a:off x="384048" y="6016752"/>
            <a:ext cx="11430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50" b="0" dirty="0">
                <a:solidFill>
                  <a:srgbClr val="4A5568"/>
                </a:solidFill>
                <a:latin typeface="Microsoft YaHei"/>
                <a:ea typeface="Microsoft YaHei"/>
              </a:rPr>
              <a:t>ABL / HOT / Gap = 3.5625 / 0.375 / 1.125</a:t>
            </a:r>
            <a:r>
              <a:rPr lang="zh-CN" sz="1050" b="0" dirty="0">
                <a:solidFill>
                  <a:srgbClr val="4A5568"/>
                </a:solidFill>
                <a:latin typeface="Microsoft YaHei"/>
                <a:ea typeface="Microsoft YaHei"/>
              </a:rPr>
              <a:t>（分数不变，不是提升）</a:t>
            </a:r>
          </a:p>
        </p:txBody>
      </p:sp>
      <p:sp>
        <p:nvSpPr>
          <p:cNvPr id="21" name=""/>
          <p:cNvSpPr txBox="1"/>
          <p:nvPr/>
        </p:nvSpPr>
        <p:spPr>
          <a:xfrm rot="0" flipH="0" flipV="0">
            <a:off x="384048" y="625449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冻结图 F5 · 组件消融与拒判边界</a:t>
            </a:r>
          </a:p>
        </p:txBody>
      </p:sp>
      <p:sp>
        <p:nvSpPr>
          <p:cNvPr id="22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 txBox="1"/>
          <p:nvPr/>
        </p:nvSpPr>
        <p:spPr>
          <a:xfrm rot="0" flipH="0" flipV="0">
            <a:off x="384048" y="420624"/>
            <a:ext cx="114300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3000" b="1" dirty="0">
                <a:solidFill>
                  <a:srgbClr val="0E3F8C"/>
                </a:solidFill>
                <a:latin typeface="Microsoft YaHei"/>
                <a:ea typeface="Microsoft YaHei"/>
              </a:rPr>
              <a:t>五种方法，验证同一个问题</a:t>
            </a:r>
          </a:p>
        </p:txBody>
      </p:sp>
      <p:sp>
        <p:nvSpPr>
          <p:cNvPr id="3" name=""/>
          <p:cNvSpPr txBox="1"/>
          <p:nvPr/>
        </p:nvSpPr>
        <p:spPr>
          <a:xfrm rot="0" flipH="0" flipV="0">
            <a:off x="384048" y="950976"/>
            <a:ext cx="11430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400" b="1" dirty="0">
                <a:solidFill>
                  <a:srgbClr val="1A2230"/>
                </a:solidFill>
                <a:latin typeface="Microsoft YaHei"/>
                <a:ea typeface="Microsoft YaHei"/>
              </a:rPr>
              <a:t>当分数看起来稳定时，证据支持是否也稳定？</a:t>
            </a:r>
          </a:p>
        </p:txBody>
      </p:sp>
      <p:sp>
        <p:nvSpPr>
          <p:cNvPr id="4" name=""/>
          <p:cNvSpPr/>
          <p:nvPr/>
        </p:nvSpPr>
        <p:spPr>
          <a:xfrm rot="0" flipH="0" flipV="0">
            <a:off x="384048" y="1207008"/>
            <a:ext cx="11430000" cy="32004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84048" y="1371600"/>
            <a:ext cx="2130552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6" name=""/>
          <p:cNvSpPr txBox="1"/>
          <p:nvPr/>
        </p:nvSpPr>
        <p:spPr>
          <a:xfrm rot="0" flipH="0" flipV="0">
            <a:off x="548640" y="1481328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"/>
          <p:cNvSpPr txBox="1"/>
          <p:nvPr/>
        </p:nvSpPr>
        <p:spPr>
          <a:xfrm rot="0" flipH="0" flipV="0">
            <a:off x="548640" y="173736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E4FA8"/>
                </a:solidFill>
                <a:latin typeface="Microsoft YaHei"/>
                <a:ea typeface="Microsoft YaHei"/>
              </a:rPr>
              <a:t>基线对比</a:t>
            </a:r>
          </a:p>
        </p:txBody>
      </p:sp>
      <p:sp>
        <p:nvSpPr>
          <p:cNvPr id="8" name=""/>
          <p:cNvSpPr txBox="1"/>
          <p:nvPr/>
        </p:nvSpPr>
        <p:spPr>
          <a:xfrm rot="0" flipH="0" flipV="0">
            <a:off x="548640" y="2084832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900" b="0" dirty="0">
                <a:solidFill>
                  <a:srgbClr val="8B97A8"/>
                </a:solidFill>
                <a:latin typeface="Microsoft YaHei"/>
                <a:ea typeface="Microsoft YaHei"/>
              </a:rPr>
              <a:t>（Baseline）</a:t>
            </a:r>
          </a:p>
        </p:txBody>
      </p:sp>
      <p:sp>
        <p:nvSpPr>
          <p:cNvPr id="9" name=""/>
          <p:cNvSpPr txBox="1"/>
          <p:nvPr/>
        </p:nvSpPr>
        <p:spPr>
          <a:xfrm rot="0" flipH="0" flipV="0">
            <a:off x="548640" y="2432304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100" b="0" dirty="0">
                <a:solidFill>
                  <a:srgbClr val="1A2230"/>
                </a:solidFill>
                <a:latin typeface="Microsoft YaHei"/>
                <a:ea typeface="Microsoft YaHei"/>
              </a:rPr>
              <a:t>不建模可靠性会怎样</a:t>
            </a:r>
          </a:p>
        </p:txBody>
      </p:sp>
      <p:sp>
        <p:nvSpPr>
          <p:cNvPr id="10" name=""/>
          <p:cNvSpPr/>
          <p:nvPr/>
        </p:nvSpPr>
        <p:spPr>
          <a:xfrm rot="0" flipH="0" flipV="0">
            <a:off x="2670048" y="1371600"/>
            <a:ext cx="2130552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11" name=""/>
          <p:cNvSpPr txBox="1"/>
          <p:nvPr/>
        </p:nvSpPr>
        <p:spPr>
          <a:xfrm rot="0" flipH="0" flipV="0">
            <a:off x="2834640" y="1481328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2" name=""/>
          <p:cNvSpPr txBox="1"/>
          <p:nvPr/>
        </p:nvSpPr>
        <p:spPr>
          <a:xfrm rot="0" flipH="0" flipV="0">
            <a:off x="2834640" y="173736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E4FA8"/>
                </a:solidFill>
                <a:latin typeface="Microsoft YaHei"/>
                <a:ea typeface="Microsoft YaHei"/>
              </a:rPr>
              <a:t>组件消融</a:t>
            </a:r>
          </a:p>
        </p:txBody>
      </p:sp>
      <p:sp>
        <p:nvSpPr>
          <p:cNvPr id="13" name=""/>
          <p:cNvSpPr txBox="1"/>
          <p:nvPr/>
        </p:nvSpPr>
        <p:spPr>
          <a:xfrm rot="0" flipH="0" flipV="0">
            <a:off x="2834640" y="2084832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900" b="0" dirty="0">
                <a:solidFill>
                  <a:srgbClr val="8B97A8"/>
                </a:solidFill>
                <a:latin typeface="Microsoft YaHei"/>
                <a:ea typeface="Microsoft YaHei"/>
              </a:rPr>
              <a:t>（Ablation）</a:t>
            </a:r>
          </a:p>
        </p:txBody>
      </p:sp>
      <p:sp>
        <p:nvSpPr>
          <p:cNvPr id="14" name=""/>
          <p:cNvSpPr txBox="1"/>
          <p:nvPr/>
        </p:nvSpPr>
        <p:spPr>
          <a:xfrm rot="0" flipH="0" flipV="0">
            <a:off x="2834640" y="2432304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100" b="0" dirty="0">
                <a:solidFill>
                  <a:srgbClr val="1A2230"/>
                </a:solidFill>
                <a:latin typeface="Microsoft YaHei"/>
                <a:ea typeface="Microsoft YaHei"/>
              </a:rPr>
              <a:t>支持量是否真被组件改变</a:t>
            </a:r>
          </a:p>
        </p:txBody>
      </p:sp>
      <p:sp>
        <p:nvSpPr>
          <p:cNvPr id="15" name=""/>
          <p:cNvSpPr/>
          <p:nvPr/>
        </p:nvSpPr>
        <p:spPr>
          <a:xfrm rot="0" flipH="0" flipV="0">
            <a:off x="4956048" y="1371600"/>
            <a:ext cx="2130552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16" name=""/>
          <p:cNvSpPr txBox="1"/>
          <p:nvPr/>
        </p:nvSpPr>
        <p:spPr>
          <a:xfrm rot="0" flipH="0" flipV="0">
            <a:off x="5120640" y="1481328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"/>
          <p:cNvSpPr txBox="1"/>
          <p:nvPr/>
        </p:nvSpPr>
        <p:spPr>
          <a:xfrm rot="0" flipH="0" flipV="0">
            <a:off x="5120640" y="173736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E4FA8"/>
                </a:solidFill>
                <a:latin typeface="Microsoft YaHei"/>
                <a:ea typeface="Microsoft YaHei"/>
              </a:rPr>
              <a:t>参数敏感性</a:t>
            </a:r>
          </a:p>
        </p:txBody>
      </p:sp>
      <p:sp>
        <p:nvSpPr>
          <p:cNvPr id="18" name=""/>
          <p:cNvSpPr txBox="1"/>
          <p:nvPr/>
        </p:nvSpPr>
        <p:spPr>
          <a:xfrm rot="0" flipH="0" flipV="0">
            <a:off x="5120640" y="2084832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900" b="0" dirty="0">
                <a:solidFill>
                  <a:srgbClr val="8B97A8"/>
                </a:solidFill>
                <a:latin typeface="Microsoft YaHei"/>
                <a:ea typeface="Microsoft YaHei"/>
              </a:rPr>
              <a:t>（Sensitivity）</a:t>
            </a:r>
          </a:p>
        </p:txBody>
      </p:sp>
      <p:sp>
        <p:nvSpPr>
          <p:cNvPr id="19" name=""/>
          <p:cNvSpPr txBox="1"/>
          <p:nvPr/>
        </p:nvSpPr>
        <p:spPr>
          <a:xfrm rot="0" flipH="0" flipV="0">
            <a:off x="5120640" y="2432304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100" b="0" dirty="0">
                <a:solidFill>
                  <a:srgbClr val="1A2230"/>
                </a:solidFill>
                <a:latin typeface="Microsoft YaHei"/>
                <a:ea typeface="Microsoft YaHei"/>
              </a:rPr>
              <a:t>结论是否只是碰巧</a:t>
            </a:r>
          </a:p>
        </p:txBody>
      </p:sp>
      <p:sp>
        <p:nvSpPr>
          <p:cNvPr id="20" name=""/>
          <p:cNvSpPr/>
          <p:nvPr/>
        </p:nvSpPr>
        <p:spPr>
          <a:xfrm rot="0" flipH="0" flipV="0">
            <a:off x="7242048" y="1371600"/>
            <a:ext cx="2130552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21" name=""/>
          <p:cNvSpPr txBox="1"/>
          <p:nvPr/>
        </p:nvSpPr>
        <p:spPr>
          <a:xfrm rot="0" flipH="0" flipV="0">
            <a:off x="7406640" y="1481328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2" name=""/>
          <p:cNvSpPr txBox="1"/>
          <p:nvPr/>
        </p:nvSpPr>
        <p:spPr>
          <a:xfrm rot="0" flipH="0" flipV="0">
            <a:off x="7406640" y="173736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E4FA8"/>
                </a:solidFill>
                <a:latin typeface="Microsoft YaHei"/>
                <a:ea typeface="Microsoft YaHei"/>
              </a:rPr>
              <a:t>失败案例</a:t>
            </a:r>
          </a:p>
        </p:txBody>
      </p:sp>
      <p:sp>
        <p:nvSpPr>
          <p:cNvPr id="23" name=""/>
          <p:cNvSpPr txBox="1"/>
          <p:nvPr/>
        </p:nvSpPr>
        <p:spPr>
          <a:xfrm rot="0" flipH="0" flipV="0">
            <a:off x="7406640" y="2084832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900" b="0" dirty="0">
                <a:solidFill>
                  <a:srgbClr val="8B97A8"/>
                </a:solidFill>
                <a:latin typeface="Microsoft YaHei"/>
                <a:ea typeface="Microsoft YaHei"/>
              </a:rPr>
              <a:t>（Failure Case）</a:t>
            </a:r>
          </a:p>
        </p:txBody>
      </p:sp>
      <p:sp>
        <p:nvSpPr>
          <p:cNvPr id="24" name=""/>
          <p:cNvSpPr txBox="1"/>
          <p:nvPr/>
        </p:nvSpPr>
        <p:spPr>
          <a:xfrm rot="0" flipH="0" flipV="0">
            <a:off x="7406640" y="2432304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100" b="0" dirty="0">
                <a:solidFill>
                  <a:srgbClr val="1A2230"/>
                </a:solidFill>
                <a:latin typeface="Microsoft YaHei"/>
                <a:ea typeface="Microsoft YaHei"/>
              </a:rPr>
              <a:t>高 Raw 是否仍被接受</a:t>
            </a:r>
          </a:p>
        </p:txBody>
      </p:sp>
      <p:sp>
        <p:nvSpPr>
          <p:cNvPr id="25" name=""/>
          <p:cNvSpPr/>
          <p:nvPr/>
        </p:nvSpPr>
        <p:spPr>
          <a:xfrm rot="0" flipH="0" flipV="0">
            <a:off x="9528048" y="1371600"/>
            <a:ext cx="2130552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26" name=""/>
          <p:cNvSpPr txBox="1"/>
          <p:nvPr/>
        </p:nvSpPr>
        <p:spPr>
          <a:xfrm rot="0" flipH="0" flipV="0">
            <a:off x="9692640" y="1481328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7" name=""/>
          <p:cNvSpPr txBox="1"/>
          <p:nvPr/>
        </p:nvSpPr>
        <p:spPr>
          <a:xfrm rot="0" flipH="0" flipV="0">
            <a:off x="9692640" y="173736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E4FA8"/>
                </a:solidFill>
                <a:latin typeface="Microsoft YaHei"/>
                <a:ea typeface="Microsoft YaHei"/>
              </a:rPr>
              <a:t>外部结构迁移</a:t>
            </a:r>
          </a:p>
        </p:txBody>
      </p:sp>
      <p:sp>
        <p:nvSpPr>
          <p:cNvPr id="28" name=""/>
          <p:cNvSpPr txBox="1"/>
          <p:nvPr/>
        </p:nvSpPr>
        <p:spPr>
          <a:xfrm rot="0" flipH="0" flipV="0">
            <a:off x="9692640" y="2084832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900" b="0" dirty="0">
                <a:solidFill>
                  <a:srgbClr val="8B97A8"/>
                </a:solidFill>
                <a:latin typeface="Microsoft YaHei"/>
                <a:ea typeface="Microsoft YaHei"/>
              </a:rPr>
              <a:t>（External Transfer）</a:t>
            </a:r>
          </a:p>
        </p:txBody>
      </p:sp>
      <p:sp>
        <p:nvSpPr>
          <p:cNvPr id="29" name=""/>
          <p:cNvSpPr txBox="1"/>
          <p:nvPr/>
        </p:nvSpPr>
        <p:spPr>
          <a:xfrm rot="0" flipH="0" flipV="0">
            <a:off x="9692640" y="2432304"/>
            <a:ext cx="184708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100" b="0" dirty="0">
                <a:solidFill>
                  <a:srgbClr val="1A2230"/>
                </a:solidFill>
                <a:latin typeface="Microsoft YaHei"/>
                <a:ea typeface="Microsoft YaHei"/>
              </a:rPr>
              <a:t>结构能否跨域运行</a:t>
            </a:r>
          </a:p>
        </p:txBody>
      </p:sp>
      <p:sp>
        <p:nvSpPr>
          <p:cNvPr id="30" name=""/>
          <p:cNvSpPr/>
          <p:nvPr/>
        </p:nvSpPr>
        <p:spPr>
          <a:xfrm rot="0" flipH="0" flipV="0">
            <a:off x="384048" y="3163824"/>
            <a:ext cx="7223760" cy="28346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384048" y="3163824"/>
            <a:ext cx="50292" cy="2834640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32" name=""/>
          <p:cNvSpPr txBox="1"/>
          <p:nvPr/>
        </p:nvSpPr>
        <p:spPr>
          <a:xfrm rot="0" flipH="0" flipV="0">
            <a:off x="640080" y="3310128"/>
            <a:ext cx="67665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1" dirty="0">
                <a:solidFill>
                  <a:srgbClr val="0E3F8C"/>
                </a:solidFill>
                <a:latin typeface="Microsoft YaHei"/>
                <a:ea typeface="Microsoft YaHei"/>
              </a:rPr>
              <a:t>参数敏感性证据卡（Sensitivity）</a:t>
            </a:r>
          </a:p>
        </p:txBody>
      </p:sp>
      <p:sp>
        <p:nvSpPr>
          <p:cNvPr id="33" name=""/>
          <p:cNvSpPr txBox="1"/>
          <p:nvPr/>
        </p:nvSpPr>
        <p:spPr>
          <a:xfrm rot="0" flipH="0" flipV="0">
            <a:off x="640080" y="3639312"/>
            <a:ext cx="67665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2100" b="1" dirty="0">
                <a:solidFill>
                  <a:srgbClr val="1E4FA8"/>
                </a:solidFill>
                <a:latin typeface="Microsoft YaHei"/>
                <a:ea typeface="Microsoft YaHei"/>
              </a:rPr>
              <a:t>693 = 21 × 11 × 3</a:t>
            </a:r>
            <a:r>
              <a:rPr lang="zh-CN" sz="1400" b="0" dirty="0">
                <a:solidFill>
                  <a:srgbClr val="0E3F8C"/>
                </a:solidFill>
                <a:latin typeface="Microsoft YaHei"/>
                <a:ea typeface="Microsoft YaHei"/>
              </a:rPr>
              <a:t>     </a:t>
            </a:r>
            <a:r>
              <a:rPr lang="en-US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660 defined</a:t>
            </a:r>
            <a:r>
              <a:rPr lang="zh-CN" sz="1200" b="0" dirty="0">
                <a:solidFill>
                  <a:srgbClr val="0E3F8C"/>
                </a:solidFill>
                <a:latin typeface="Microsoft YaHei"/>
                <a:ea typeface="Microsoft YaHei"/>
              </a:rPr>
              <a:t>     </a:t>
            </a:r>
            <a:r>
              <a:rPr lang="en-US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33 undefined</a:t>
            </a:r>
          </a:p>
        </p:txBody>
      </p:sp>
      <p:sp>
        <p:nvSpPr>
          <p:cNvPr id="34" name=""/>
          <p:cNvSpPr txBox="1"/>
          <p:nvPr/>
        </p:nvSpPr>
        <p:spPr>
          <a:xfrm rot="0" flipH="0" flipV="0">
            <a:off x="640080" y="4133088"/>
            <a:ext cx="67665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1A2230"/>
                </a:solidFill>
                <a:latin typeface="Microsoft YaHei"/>
                <a:ea typeface="Microsoft YaHei"/>
              </a:rPr>
              <a:t>扰动幅度：±10% / ±20%</a:t>
            </a:r>
          </a:p>
        </p:txBody>
      </p:sp>
      <p:sp>
        <p:nvSpPr>
          <p:cNvPr id="35" name=""/>
          <p:cNvSpPr txBox="1"/>
          <p:nvPr/>
        </p:nvSpPr>
        <p:spPr>
          <a:xfrm rot="0" flipH="0" flipV="0">
            <a:off x="640080" y="4517136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900" b="1" dirty="0">
                <a:solidFill>
                  <a:srgbClr val="D9534F"/>
                </a:solidFill>
                <a:latin typeface="Microsoft YaHei"/>
                <a:ea typeface="Microsoft YaHei"/>
              </a:rPr>
              <a:t>0 decision-state flips</a:t>
            </a:r>
            <a:r>
              <a:rPr lang="zh-CN" sz="1200" b="0" dirty="0">
                <a:solidFill>
                  <a:srgbClr val="D9534F"/>
                </a:solidFill>
                <a:latin typeface="Microsoft YaHei"/>
                <a:ea typeface="Microsoft YaHei"/>
              </a:rPr>
              <a:t>（决策状态零翻转）</a:t>
            </a:r>
          </a:p>
        </p:txBody>
      </p:sp>
      <p:sp>
        <p:nvSpPr>
          <p:cNvPr id="36" name=""/>
          <p:cNvSpPr txBox="1"/>
          <p:nvPr/>
        </p:nvSpPr>
        <p:spPr>
          <a:xfrm rot="0" flipH="0" flipV="0">
            <a:off x="640080" y="5029200"/>
            <a:ext cx="67665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400" b="1" dirty="0">
                <a:solidFill>
                  <a:srgbClr val="1A2230"/>
                </a:solidFill>
                <a:latin typeface="Microsoft YaHei"/>
                <a:ea typeface="Microsoft YaHei"/>
              </a:rPr>
              <a:t>五条路径不是五个新主张，</a:t>
            </a:r>
          </a:p>
          <a:p>
            <a:pPr algn="l">
              <a:lnSpc>
                <a:spcPct val="105000"/>
              </a:lnSpc>
            </a:pPr>
            <a:r>
              <a:rPr lang="zh-CN" sz="1400" b="1" dirty="0">
                <a:solidFill>
                  <a:srgbClr val="1A2230"/>
                </a:solidFill>
                <a:latin typeface="Microsoft YaHei"/>
                <a:ea typeface="Microsoft YaHei"/>
              </a:rPr>
              <a:t>而是同一个可审查问题的五种压力测试。</a:t>
            </a:r>
          </a:p>
          <a:p>
            <a:pPr algn="l">
              <a:lnSpc>
                <a:spcPct val="105000"/>
              </a:lnSpc>
            </a:pPr>
            <a:r>
              <a:rPr lang="zh-CN" sz="1050" b="0" dirty="0">
                <a:solidFill>
                  <a:srgbClr val="4A5568"/>
                </a:solidFill>
                <a:latin typeface="Microsoft YaHei"/>
                <a:ea typeface="Microsoft YaHei"/>
              </a:rPr>
              <a:t>每条路径统一报告：为什么问 → 怎么设 → 结果 → 支持什么 → 不支持什么</a:t>
            </a:r>
          </a:p>
        </p:txBody>
      </p:sp>
      <p:pic>
        <p:nvPicPr>
          <p:cNvPr id="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863840" y="3310128"/>
            <a:ext cx="3977640" cy="2560320"/>
          </a:xfrm>
          <a:prstGeom prst="rect">
            <a:avLst/>
          </a:prstGeom>
          <a:ln/>
        </p:spPr>
      </p:pic>
      <p:sp>
        <p:nvSpPr>
          <p:cNvPr id="38" name=""/>
          <p:cNvSpPr txBox="1"/>
          <p:nvPr/>
        </p:nvSpPr>
        <p:spPr>
          <a:xfrm rot="0" flipH="0" flipV="0">
            <a:off x="384048" y="6419088"/>
            <a:ext cx="7863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不新增实验解释，只收束既有冻结证据</a:t>
            </a:r>
          </a:p>
        </p:txBody>
      </p:sp>
      <p:sp>
        <p:nvSpPr>
          <p:cNvPr id="39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 txBox="1"/>
          <p:nvPr/>
        </p:nvSpPr>
        <p:spPr>
          <a:xfrm rot="0" flipH="0" flipV="0">
            <a:off x="384048" y="420624"/>
            <a:ext cx="114300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3200" b="1" dirty="0">
                <a:solidFill>
                  <a:srgbClr val="0E3F8C"/>
                </a:solidFill>
                <a:latin typeface="Microsoft YaHei"/>
                <a:ea typeface="Microsoft YaHei"/>
              </a:rPr>
              <a:t>高 Raw，不代表高可信</a:t>
            </a:r>
          </a:p>
        </p:txBody>
      </p:sp>
      <p:sp>
        <p:nvSpPr>
          <p:cNvPr id="3" name=""/>
          <p:cNvSpPr txBox="1"/>
          <p:nvPr/>
        </p:nvSpPr>
        <p:spPr>
          <a:xfrm rot="0" flipH="0" flipV="0">
            <a:off x="384048" y="950976"/>
            <a:ext cx="11430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4A5568"/>
                </a:solidFill>
                <a:latin typeface="Microsoft YaHei"/>
                <a:ea typeface="Microsoft YaHei"/>
              </a:rPr>
              <a:t>最困难的记录，正好暴露支持与拒判的边界</a:t>
            </a:r>
          </a:p>
        </p:txBody>
      </p:sp>
      <p:sp>
        <p:nvSpPr>
          <p:cNvPr id="4" name=""/>
          <p:cNvSpPr/>
          <p:nvPr/>
        </p:nvSpPr>
        <p:spPr>
          <a:xfrm rot="0" flipH="0" flipV="0">
            <a:off x="384048" y="1207008"/>
            <a:ext cx="11430000" cy="32004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84048" y="1389888"/>
            <a:ext cx="6400800" cy="4626864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66928" y="1572768"/>
            <a:ext cx="6035040" cy="3520440"/>
          </a:xfrm>
          <a:prstGeom prst="rect">
            <a:avLst/>
          </a:prstGeom>
          <a:ln/>
        </p:spPr>
      </p:pic>
      <p:sp>
        <p:nvSpPr>
          <p:cNvPr id="7" name=""/>
          <p:cNvSpPr txBox="1"/>
          <p:nvPr/>
        </p:nvSpPr>
        <p:spPr>
          <a:xfrm rot="0" flipH="0" flipV="0">
            <a:off x="566928" y="5230368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冻结图 F3 · 证据退化与拒判边界</a:t>
            </a:r>
          </a:p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受控改变单个证据字段时的机械响应，不是真实观测。</a:t>
            </a:r>
          </a:p>
        </p:txBody>
      </p:sp>
      <p:sp>
        <p:nvSpPr>
          <p:cNvPr id="8" name=""/>
          <p:cNvSpPr/>
          <p:nvPr/>
        </p:nvSpPr>
        <p:spPr>
          <a:xfrm rot="0" flipH="0" flipV="0">
            <a:off x="6995160" y="1389888"/>
            <a:ext cx="4700016" cy="2121408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/>
          <a:p/>
        </p:txBody>
      </p:sp>
      <p:sp>
        <p:nvSpPr>
          <p:cNvPr id="9" name=""/>
          <p:cNvSpPr/>
          <p:nvPr/>
        </p:nvSpPr>
        <p:spPr>
          <a:xfrm rot="0" flipH="0" flipV="0">
            <a:off x="6995160" y="1389888"/>
            <a:ext cx="50292" cy="2121408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/>
          <a:p/>
        </p:txBody>
      </p:sp>
      <p:sp>
        <p:nvSpPr>
          <p:cNvPr id="10" name=""/>
          <p:cNvSpPr txBox="1"/>
          <p:nvPr/>
        </p:nvSpPr>
        <p:spPr>
          <a:xfrm rot="0" flipH="0" flipV="0">
            <a:off x="7242048" y="1554480"/>
            <a:ext cx="42428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800" b="1" dirty="0">
                <a:solidFill>
                  <a:srgbClr val="1A2230"/>
                </a:solidFill>
                <a:latin typeface="Microsoft YaHei"/>
                <a:ea typeface="Microsoft YaHei"/>
              </a:rPr>
              <a:t>P108</a:t>
            </a:r>
          </a:p>
        </p:txBody>
      </p:sp>
      <p:sp>
        <p:nvSpPr>
          <p:cNvPr id="11" name=""/>
          <p:cNvSpPr txBox="1"/>
          <p:nvPr/>
        </p:nvSpPr>
        <p:spPr>
          <a:xfrm rot="0" flipH="0" flipV="0">
            <a:off x="7242048" y="1920240"/>
            <a:ext cx="4242816" cy="11338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A2230"/>
                </a:solidFill>
                <a:latin typeface="Microsoft YaHei"/>
                <a:ea typeface="Microsoft YaHei"/>
              </a:rPr>
              <a:t>原始表现 = L6</a:t>
            </a:r>
            <a:r>
              <a:rPr lang="zh-CN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（最高层）</a:t>
            </a:r>
          </a:p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A2230"/>
                </a:solidFill>
                <a:latin typeface="Microsoft YaHei"/>
                <a:ea typeface="Microsoft YaHei"/>
              </a:rPr>
              <a:t>证据可靠性 = 0.375</a:t>
            </a:r>
          </a:p>
          <a:p>
            <a:pPr algn="l">
              <a:lnSpc>
                <a:spcPct val="105000"/>
              </a:lnSpc>
            </a:pPr>
            <a:r>
              <a:rPr lang="zh-CN" sz="1500" b="1" dirty="0">
                <a:solidFill>
                  <a:srgbClr val="1A2230"/>
                </a:solidFill>
                <a:latin typeface="Microsoft YaHei"/>
                <a:ea typeface="Microsoft YaHei"/>
              </a:rPr>
              <a:t>调整后贡献 = 2.25</a:t>
            </a:r>
          </a:p>
        </p:txBody>
      </p:sp>
      <p:sp>
        <p:nvSpPr>
          <p:cNvPr id="12" name=""/>
          <p:cNvSpPr txBox="1"/>
          <p:nvPr/>
        </p:nvSpPr>
        <p:spPr>
          <a:xfrm rot="0" flipH="0" flipV="0">
            <a:off x="7242048" y="3127248"/>
            <a:ext cx="42428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1" dirty="0">
                <a:solidFill>
                  <a:srgbClr val="D9534F"/>
                </a:solidFill>
                <a:latin typeface="Microsoft YaHei"/>
                <a:ea typeface="Microsoft YaHei"/>
              </a:rPr>
              <a:t>→ 支持不足，暂缓判断（ABSTAIN）</a:t>
            </a:r>
          </a:p>
        </p:txBody>
      </p:sp>
      <p:sp>
        <p:nvSpPr>
          <p:cNvPr id="13" name=""/>
          <p:cNvSpPr/>
          <p:nvPr/>
        </p:nvSpPr>
        <p:spPr>
          <a:xfrm rot="0" flipH="0" flipV="0">
            <a:off x="6995160" y="3657600"/>
            <a:ext cx="4700016" cy="11887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14" name=""/>
          <p:cNvSpPr txBox="1"/>
          <p:nvPr/>
        </p:nvSpPr>
        <p:spPr>
          <a:xfrm rot="0" flipH="0" flipV="0">
            <a:off x="7242048" y="3803904"/>
            <a:ext cx="424281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600" b="1" dirty="0">
                <a:solidFill>
                  <a:srgbClr val="1A2230"/>
                </a:solidFill>
                <a:latin typeface="Microsoft YaHei"/>
                <a:ea typeface="Microsoft YaHei"/>
              </a:rPr>
              <a:t>P072 / P035</a:t>
            </a:r>
          </a:p>
          <a:p>
            <a:pPr algn="l">
              <a:lnSpc>
                <a:spcPct val="105000"/>
              </a:lnSpc>
            </a:pPr>
            <a:r>
              <a:rPr lang="zh-CN" sz="1350" b="0" dirty="0">
                <a:solidFill>
                  <a:srgbClr val="1A2230"/>
                </a:solidFill>
                <a:latin typeface="Microsoft YaHei"/>
                <a:ea typeface="Microsoft YaHei"/>
              </a:rPr>
              <a:t>→ 无有效证据</a:t>
            </a:r>
          </a:p>
          <a:p>
            <a:pPr algn="l">
              <a:lnSpc>
                <a:spcPct val="105000"/>
              </a:lnSpc>
            </a:pPr>
            <a:r>
              <a:rPr lang="zh-CN" sz="1350" b="1" dirty="0">
                <a:solidFill>
                  <a:srgbClr val="D9534F"/>
                </a:solidFill>
                <a:latin typeface="Microsoft YaHei"/>
                <a:ea typeface="Microsoft YaHei"/>
              </a:rPr>
              <a:t>→ 不填 0</a:t>
            </a:r>
          </a:p>
        </p:txBody>
      </p:sp>
      <p:sp>
        <p:nvSpPr>
          <p:cNvPr id="15" name=""/>
          <p:cNvSpPr txBox="1"/>
          <p:nvPr/>
        </p:nvSpPr>
        <p:spPr>
          <a:xfrm rot="0" flipH="0" flipV="0">
            <a:off x="6995160" y="4992624"/>
            <a:ext cx="4700016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700" b="1" dirty="0">
                <a:solidFill>
                  <a:srgbClr val="1A2230"/>
                </a:solidFill>
                <a:latin typeface="Microsoft YaHei"/>
                <a:ea typeface="Microsoft YaHei"/>
              </a:rPr>
              <a:t>没有证据，不等于表现为零。</a:t>
            </a:r>
          </a:p>
        </p:txBody>
      </p:sp>
      <p:sp>
        <p:nvSpPr>
          <p:cNvPr id="16" name=""/>
          <p:cNvSpPr txBox="1"/>
          <p:nvPr/>
        </p:nvSpPr>
        <p:spPr>
          <a:xfrm rot="0" flipH="0" flipV="0">
            <a:off x="6995160" y="5541264"/>
            <a:ext cx="470001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同类低支持案例：P105（L2 · R=0.375 · 贡献 0.75）</a:t>
            </a:r>
          </a:p>
          <a:p>
            <a:pPr algn="l">
              <a:lnSpc>
                <a:spcPct val="105000"/>
              </a:lnSpc>
            </a:pPr>
            <a:r>
              <a:rPr lang="en-US" sz="850" b="0" dirty="0">
                <a:solidFill>
                  <a:srgbClr val="8B97A8"/>
                </a:solidFill>
                <a:latin typeface="Microsoft YaHei"/>
                <a:ea typeface="Microsoft YaHei"/>
              </a:rPr>
              <a:t>LOW_SUPPORT</a:t>
            </a:r>
          </a:p>
        </p:txBody>
      </p:sp>
      <p:sp>
        <p:nvSpPr>
          <p:cNvPr id="17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 txBox="1"/>
          <p:nvPr/>
        </p:nvSpPr>
        <p:spPr>
          <a:xfrm rot="0" flipH="0" flipV="0">
            <a:off x="384048" y="420624"/>
            <a:ext cx="114300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3000" b="1" dirty="0">
                <a:solidFill>
                  <a:srgbClr val="0E3F8C"/>
                </a:solidFill>
                <a:latin typeface="Microsoft YaHei"/>
                <a:ea typeface="Microsoft YaHei"/>
              </a:rPr>
              <a:t>补充压力测试与结构迁移</a:t>
            </a:r>
          </a:p>
        </p:txBody>
      </p:sp>
      <p:sp>
        <p:nvSpPr>
          <p:cNvPr id="3" name=""/>
          <p:cNvSpPr txBox="1"/>
          <p:nvPr/>
        </p:nvSpPr>
        <p:spPr>
          <a:xfrm rot="0" flipH="0" flipV="0">
            <a:off x="384048" y="950976"/>
            <a:ext cx="11430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4A5568"/>
                </a:solidFill>
                <a:latin typeface="Microsoft YaHei"/>
                <a:ea typeface="Microsoft YaHei"/>
              </a:rPr>
              <a:t>支持边界与支持范围同样重要</a:t>
            </a:r>
          </a:p>
        </p:txBody>
      </p:sp>
      <p:sp>
        <p:nvSpPr>
          <p:cNvPr id="4" name=""/>
          <p:cNvSpPr/>
          <p:nvPr/>
        </p:nvSpPr>
        <p:spPr>
          <a:xfrm rot="0" flipH="0" flipV="0">
            <a:off x="384048" y="1207008"/>
            <a:ext cx="11430000" cy="32004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84048" y="1335024"/>
            <a:ext cx="11430000" cy="5486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6" name=""/>
          <p:cNvSpPr/>
          <p:nvPr/>
        </p:nvSpPr>
        <p:spPr>
          <a:xfrm rot="0" flipH="0" flipV="0">
            <a:off x="384048" y="1335024"/>
            <a:ext cx="50292" cy="548640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7" name=""/>
          <p:cNvSpPr txBox="1"/>
          <p:nvPr/>
        </p:nvSpPr>
        <p:spPr>
          <a:xfrm rot="0" flipH="0" flipV="0">
            <a:off x="685800" y="1463040"/>
            <a:ext cx="10881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900" b="1" dirty="0">
                <a:solidFill>
                  <a:srgbClr val="1A2230"/>
                </a:solidFill>
                <a:latin typeface="Microsoft YaHei"/>
                <a:ea typeface="Microsoft YaHei"/>
              </a:rPr>
              <a:t>结构可以迁移，预测优势没有被证明。</a:t>
            </a:r>
          </a:p>
        </p:txBody>
      </p:sp>
      <p:sp>
        <p:nvSpPr>
          <p:cNvPr id="8" name=""/>
          <p:cNvSpPr/>
          <p:nvPr/>
        </p:nvSpPr>
        <p:spPr>
          <a:xfrm rot="0" flipH="0" flipV="0">
            <a:off x="384048" y="2011680"/>
            <a:ext cx="5532120" cy="1975104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9" name=""/>
          <p:cNvSpPr txBox="1"/>
          <p:nvPr/>
        </p:nvSpPr>
        <p:spPr>
          <a:xfrm rot="0" flipH="0" flipV="0">
            <a:off x="594360" y="2103120"/>
            <a:ext cx="5120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1" dirty="0">
                <a:solidFill>
                  <a:srgbClr val="0E3F8C"/>
                </a:solidFill>
                <a:latin typeface="Microsoft YaHei"/>
                <a:ea typeface="Microsoft YaHei"/>
              </a:rPr>
              <a:t>机器学习对照（ML Challenger）</a:t>
            </a:r>
          </a:p>
        </p:txBody>
      </p:sp>
      <p:sp>
        <p:nvSpPr>
          <p:cNvPr id="10" name=""/>
          <p:cNvSpPr txBox="1"/>
          <p:nvPr/>
        </p:nvSpPr>
        <p:spPr>
          <a:xfrm rot="0" flipH="0" flipV="0">
            <a:off x="594360" y="2359152"/>
            <a:ext cx="5120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250" b="1" dirty="0">
                <a:solidFill>
                  <a:srgbClr val="1A2230"/>
                </a:solidFill>
                <a:latin typeface="Microsoft YaHei"/>
                <a:ea typeface="Microsoft YaHei"/>
              </a:rPr>
              <a:t>核心结论：没有足够证据选出 winner。</a:t>
            </a:r>
          </a:p>
        </p:txBody>
      </p:sp>
      <p:sp>
        <p:nvSpPr>
          <p:cNvPr id="11" name=""/>
          <p:cNvSpPr txBox="1"/>
          <p:nvPr/>
        </p:nvSpPr>
        <p:spPr>
          <a:xfrm rot="0" flipH="0" flipV="0">
            <a:off x="594360" y="2633472"/>
            <a:ext cx="5120640" cy="1225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000" b="0" dirty="0">
                <a:solidFill>
                  <a:srgbClr val="4A5568"/>
                </a:solidFill>
                <a:latin typeface="Microsoft YaHei"/>
                <a:ea typeface="Microsoft YaHei"/>
              </a:rPr>
              <a:t>表面判别指标 0.876 / 0.919 / 0.922</a:t>
            </a:r>
          </a:p>
          <a:p>
            <a:pPr algn="l">
              <a:lnSpc>
                <a:spcPct val="105000"/>
              </a:lnSpc>
            </a:pPr>
            <a:r>
              <a:rPr lang="zh-CN" sz="1000" b="0" dirty="0">
                <a:solidFill>
                  <a:srgbClr val="4A5568"/>
                </a:solidFill>
                <a:latin typeface="Microsoft YaHei"/>
                <a:ea typeface="Microsoft YaHei"/>
              </a:rPr>
              <a:t>RF 跨学期 ≈ 0.588；缺失后约 0.71–0.81</a:t>
            </a:r>
          </a:p>
          <a:p>
            <a:pPr algn="l">
              <a:lnSpc>
                <a:spcPct val="105000"/>
              </a:lnSpc>
            </a:pPr>
            <a:r>
              <a:rPr lang="zh-CN" sz="1000" b="0" dirty="0">
                <a:solidFill>
                  <a:srgbClr val="4A5568"/>
                </a:solidFill>
                <a:latin typeface="Microsoft YaHei"/>
                <a:ea typeface="Microsoft YaHei"/>
              </a:rPr>
              <a:t>但 positive 仅 16 条且为 AI 代理标签</a:t>
            </a:r>
          </a:p>
          <a:p>
            <a:pPr algn="l">
              <a:lnSpc>
                <a:spcPct val="105000"/>
              </a:lnSpc>
            </a:pPr>
            <a:r>
              <a:rPr lang="en-US" sz="850" b="0" dirty="0">
                <a:solidFill>
                  <a:srgbClr val="D9534F"/>
                </a:solidFill>
                <a:latin typeface="Microsoft YaHei"/>
                <a:ea typeface="Microsoft YaHei"/>
              </a:rPr>
              <a:t>INSUFFICIENT_FOR_STRONG_ML_CLAIM</a:t>
            </a:r>
          </a:p>
        </p:txBody>
      </p:sp>
      <p:sp>
        <p:nvSpPr>
          <p:cNvPr id="12" name=""/>
          <p:cNvSpPr/>
          <p:nvPr/>
        </p:nvSpPr>
        <p:spPr>
          <a:xfrm rot="0" flipH="0" flipV="0">
            <a:off x="6108192" y="2011680"/>
            <a:ext cx="5705856" cy="1975104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13" name=""/>
          <p:cNvSpPr txBox="1"/>
          <p:nvPr/>
        </p:nvSpPr>
        <p:spPr>
          <a:xfrm rot="0" flipH="0" flipV="0">
            <a:off x="6318504" y="2139696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400" b="1" dirty="0">
                <a:solidFill>
                  <a:srgbClr val="0E3F8C"/>
                </a:solidFill>
                <a:latin typeface="Microsoft YaHei"/>
                <a:ea typeface="Microsoft YaHei"/>
              </a:rPr>
              <a:t>外部结构迁移（External Structural Transfer）</a:t>
            </a:r>
          </a:p>
        </p:txBody>
      </p:sp>
      <p:sp>
        <p:nvSpPr>
          <p:cNvPr id="14" name=""/>
          <p:cNvSpPr txBox="1"/>
          <p:nvPr/>
        </p:nvSpPr>
        <p:spPr>
          <a:xfrm rot="0" flipH="0" flipV="0">
            <a:off x="6318504" y="2468880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200" b="0" dirty="0">
                <a:solidFill>
                  <a:srgbClr val="1A2230"/>
                </a:solidFill>
                <a:latin typeface="Microsoft YaHei"/>
                <a:ea typeface="Microsoft YaHei"/>
              </a:rPr>
              <a:t>BTC 历史数据，仅做结构迁移验证（n = 1698）。</a:t>
            </a:r>
          </a:p>
        </p:txBody>
      </p:sp>
      <p:sp>
        <p:nvSpPr>
          <p:cNvPr id="15" name=""/>
          <p:cNvSpPr txBox="1"/>
          <p:nvPr/>
        </p:nvSpPr>
        <p:spPr>
          <a:xfrm rot="0" flipH="0" flipV="0">
            <a:off x="6318504" y="2798064"/>
            <a:ext cx="5303520" cy="10607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1" dirty="0">
                <a:solidFill>
                  <a:srgbClr val="1A2230"/>
                </a:solidFill>
                <a:latin typeface="Microsoft YaHei"/>
                <a:ea typeface="Microsoft YaHei"/>
              </a:rPr>
              <a:t>Gate 1：支持</a:t>
            </a:r>
          </a:p>
          <a:p>
            <a:pPr algn="l">
              <a:lnSpc>
                <a:spcPct val="105000"/>
              </a:lnSpc>
            </a:pPr>
            <a:r>
              <a:rPr lang="zh-CN" sz="1300" b="1" dirty="0">
                <a:solidFill>
                  <a:srgbClr val="1A2230"/>
                </a:solidFill>
                <a:latin typeface="Microsoft YaHei"/>
                <a:ea typeface="Microsoft YaHei"/>
              </a:rPr>
              <a:t>Gate 2：支持</a:t>
            </a:r>
          </a:p>
          <a:p>
            <a:pPr algn="l">
              <a:lnSpc>
                <a:spcPct val="105000"/>
              </a:lnSpc>
            </a:pPr>
            <a:r>
              <a:rPr lang="zh-CN" sz="1300" b="1" dirty="0">
                <a:solidFill>
                  <a:srgbClr val="D9534F"/>
                </a:solidFill>
                <a:latin typeface="Microsoft YaHei"/>
                <a:ea typeface="Microsoft YaHei"/>
              </a:rPr>
              <a:t>Gate 3：当前证据不支持</a:t>
            </a:r>
          </a:p>
          <a:p>
            <a:pPr algn="l">
              <a:lnSpc>
                <a:spcPct val="105000"/>
              </a:lnSpc>
            </a:pPr>
            <a:r>
              <a:rPr lang="zh-CN" sz="900" b="0" dirty="0">
                <a:solidFill>
                  <a:srgbClr val="8B97A8"/>
                </a:solidFill>
                <a:latin typeface="Microsoft YaHei"/>
                <a:ea typeface="Microsoft YaHei"/>
              </a:rPr>
              <a:t>低可靠误差 0.5248 vs 高可靠误差 0.5277</a:t>
            </a:r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059936" y="4133088"/>
            <a:ext cx="4078224" cy="2377440"/>
          </a:xfrm>
          <a:prstGeom prst="rect">
            <a:avLst/>
          </a:prstGeom>
          <a:ln/>
        </p:spPr>
      </p:pic>
      <p:sp>
        <p:nvSpPr>
          <p:cNvPr id="17" name=""/>
          <p:cNvSpPr txBox="1"/>
          <p:nvPr/>
        </p:nvSpPr>
        <p:spPr>
          <a:xfrm rot="0" flipH="0" flipV="0">
            <a:off x="384048" y="6419088"/>
            <a:ext cx="7863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负结果必须保留：Gate 3 不支持</a:t>
            </a:r>
          </a:p>
        </p:txBody>
      </p:sp>
      <p:sp>
        <p:nvSpPr>
          <p:cNvPr id="18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 txBox="1"/>
          <p:nvPr/>
        </p:nvSpPr>
        <p:spPr>
          <a:xfrm rot="0" flipH="0" flipV="0">
            <a:off x="384048" y="420624"/>
            <a:ext cx="114300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3000" b="1" dirty="0">
                <a:solidFill>
                  <a:srgbClr val="0E3F8C"/>
                </a:solidFill>
                <a:latin typeface="Microsoft YaHei"/>
                <a:ea typeface="Microsoft YaHei"/>
              </a:rPr>
              <a:t>当前证据边界</a:t>
            </a:r>
          </a:p>
        </p:txBody>
      </p:sp>
      <p:sp>
        <p:nvSpPr>
          <p:cNvPr id="3" name=""/>
          <p:cNvSpPr txBox="1"/>
          <p:nvPr/>
        </p:nvSpPr>
        <p:spPr>
          <a:xfrm rot="0" flipH="0" flipV="0">
            <a:off x="384048" y="950976"/>
            <a:ext cx="11430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300" b="0" dirty="0">
                <a:solidFill>
                  <a:srgbClr val="4A5568"/>
                </a:solidFill>
                <a:latin typeface="Microsoft YaHei"/>
                <a:ea typeface="Microsoft YaHei"/>
              </a:rPr>
              <a:t>现在能说什么，不能说什么</a:t>
            </a:r>
          </a:p>
        </p:txBody>
      </p:sp>
      <p:sp>
        <p:nvSpPr>
          <p:cNvPr id="4" name=""/>
          <p:cNvSpPr/>
          <p:nvPr/>
        </p:nvSpPr>
        <p:spPr>
          <a:xfrm rot="0" flipH="0" flipV="0">
            <a:off x="384048" y="1207008"/>
            <a:ext cx="11430000" cy="32004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84048" y="1371600"/>
            <a:ext cx="5532120" cy="32004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6" name=""/>
          <p:cNvSpPr txBox="1"/>
          <p:nvPr/>
        </p:nvSpPr>
        <p:spPr>
          <a:xfrm rot="0" flipH="0" flipV="0">
            <a:off x="621792" y="1536192"/>
            <a:ext cx="5074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600" b="1" dirty="0">
                <a:solidFill>
                  <a:srgbClr val="0E3F8C"/>
                </a:solidFill>
                <a:latin typeface="Microsoft YaHei"/>
                <a:ea typeface="Microsoft YaHei"/>
              </a:rPr>
              <a:t>【现在能说】</a:t>
            </a:r>
          </a:p>
        </p:txBody>
      </p:sp>
      <p:sp>
        <p:nvSpPr>
          <p:cNvPr id="7" name=""/>
          <p:cNvSpPr txBox="1"/>
          <p:nvPr/>
        </p:nvSpPr>
        <p:spPr>
          <a:xfrm rot="0" flipH="0" flipV="0">
            <a:off x="621792" y="1975104"/>
            <a:ext cx="507492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— 结构性结论</a:t>
            </a:r>
          </a:p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— 描述性结论</a:t>
            </a:r>
          </a:p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— 证据支持变化</a:t>
            </a:r>
          </a:p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— 拒判机制行为</a:t>
            </a:r>
          </a:p>
        </p:txBody>
      </p:sp>
      <p:sp>
        <p:nvSpPr>
          <p:cNvPr id="8" name=""/>
          <p:cNvSpPr/>
          <p:nvPr/>
        </p:nvSpPr>
        <p:spPr>
          <a:xfrm rot="0" flipH="0" flipV="0">
            <a:off x="6291072" y="1371600"/>
            <a:ext cx="5522976" cy="32004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/>
          <a:p/>
        </p:txBody>
      </p:sp>
      <p:sp>
        <p:nvSpPr>
          <p:cNvPr id="9" name=""/>
          <p:cNvSpPr txBox="1"/>
          <p:nvPr/>
        </p:nvSpPr>
        <p:spPr>
          <a:xfrm rot="0" flipH="0" flipV="0">
            <a:off x="6528816" y="1536192"/>
            <a:ext cx="5065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600" b="1" dirty="0">
                <a:solidFill>
                  <a:srgbClr val="D9534F"/>
                </a:solidFill>
                <a:latin typeface="Microsoft YaHei"/>
                <a:ea typeface="Microsoft YaHei"/>
              </a:rPr>
              <a:t>【现在不能说】</a:t>
            </a:r>
          </a:p>
        </p:txBody>
      </p:sp>
      <p:sp>
        <p:nvSpPr>
          <p:cNvPr id="10" name=""/>
          <p:cNvSpPr txBox="1"/>
          <p:nvPr/>
        </p:nvSpPr>
        <p:spPr>
          <a:xfrm rot="0" flipH="0" flipV="0">
            <a:off x="6528816" y="1975104"/>
            <a:ext cx="5065776" cy="2560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— AI 提升学习效果</a:t>
            </a:r>
          </a:p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— 因果 AI 增量</a:t>
            </a:r>
          </a:p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— 准确率提升</a:t>
            </a:r>
          </a:p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— 交易优势</a:t>
            </a:r>
          </a:p>
          <a:p>
            <a:pPr algn="l">
              <a:lnSpc>
                <a:spcPct val="105000"/>
              </a:lnSpc>
            </a:pPr>
            <a:r>
              <a:rPr lang="zh-CN" sz="1400" b="0" dirty="0">
                <a:solidFill>
                  <a:srgbClr val="1A2230"/>
                </a:solidFill>
                <a:latin typeface="Microsoft YaHei"/>
                <a:ea typeface="Microsoft YaHei"/>
              </a:rPr>
              <a:t>— 通用泛化</a:t>
            </a:r>
          </a:p>
        </p:txBody>
      </p:sp>
      <p:sp>
        <p:nvSpPr>
          <p:cNvPr id="11" name=""/>
          <p:cNvSpPr/>
          <p:nvPr/>
        </p:nvSpPr>
        <p:spPr>
          <a:xfrm rot="0" flipH="0" flipV="0">
            <a:off x="384048" y="4754880"/>
            <a:ext cx="11430000" cy="969264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12" name=""/>
          <p:cNvSpPr txBox="1"/>
          <p:nvPr/>
        </p:nvSpPr>
        <p:spPr>
          <a:xfrm rot="0" flipH="0" flipV="0">
            <a:off x="594360" y="4882896"/>
            <a:ext cx="11018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200" b="0" dirty="0">
                <a:solidFill>
                  <a:srgbClr val="4A5568"/>
                </a:solidFill>
                <a:latin typeface="Microsoft YaHei"/>
                <a:ea typeface="Microsoft YaHei"/>
              </a:rPr>
              <a:t>AI 临时标注，尚未人工验证</a:t>
            </a:r>
          </a:p>
        </p:txBody>
      </p:sp>
      <p:sp>
        <p:nvSpPr>
          <p:cNvPr id="13" name=""/>
          <p:cNvSpPr txBox="1"/>
          <p:nvPr/>
        </p:nvSpPr>
        <p:spPr>
          <a:xfrm rot="0" flipH="0" flipV="0">
            <a:off x="594360" y="5230368"/>
            <a:ext cx="110185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1A2230"/>
                </a:solidFill>
                <a:latin typeface="Microsoft YaHei"/>
                <a:ea typeface="Microsoft YaHei"/>
              </a:rPr>
              <a:t>R1 = 0/70  ·  R2 = 0/70</a:t>
            </a:r>
            <a:r>
              <a:rPr lang="zh-CN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   ·   </a:t>
            </a:r>
            <a:r>
              <a:rPr lang="en-US" sz="1100" b="0" dirty="0">
                <a:solidFill>
                  <a:srgbClr val="1A2230"/>
                </a:solidFill>
                <a:latin typeface="Microsoft YaHei"/>
                <a:ea typeface="Microsoft YaHei"/>
              </a:rPr>
              <a:t>Formal Gate = NOT_RUN</a:t>
            </a:r>
            <a:r>
              <a:rPr lang="zh-CN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   ·   </a:t>
            </a:r>
            <a:r>
              <a:rPr lang="en-US" sz="1100" b="0" dirty="0">
                <a:solidFill>
                  <a:srgbClr val="D9534F"/>
                </a:solidFill>
                <a:latin typeface="Microsoft YaHei"/>
                <a:ea typeface="Microsoft YaHei"/>
              </a:rPr>
              <a:t>AI Increment = NOT_SUPPORTED</a:t>
            </a:r>
          </a:p>
        </p:txBody>
      </p:sp>
      <p:sp>
        <p:nvSpPr>
          <p:cNvPr id="14" name=""/>
          <p:cNvSpPr txBox="1"/>
          <p:nvPr/>
        </p:nvSpPr>
        <p:spPr>
          <a:xfrm rot="0" flipH="0" flipV="0">
            <a:off x="384048" y="6419088"/>
            <a:ext cx="7863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边界不是附注，而是结果可信度的一部分</a:t>
            </a:r>
          </a:p>
        </p:txBody>
      </p:sp>
      <p:sp>
        <p:nvSpPr>
          <p:cNvPr id="15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197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2" name=""/>
          <p:cNvSpPr/>
          <p:nvPr/>
        </p:nvSpPr>
        <p:spPr>
          <a:xfrm rot="0" flipH="0" flipV="0">
            <a:off x="384048" y="384048"/>
            <a:ext cx="11430000" cy="950976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3" name=""/>
          <p:cNvSpPr txBox="1"/>
          <p:nvPr/>
        </p:nvSpPr>
        <p:spPr>
          <a:xfrm rot="0" flipH="0" flipV="0">
            <a:off x="594360" y="621792"/>
            <a:ext cx="1101852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2500" b="1" dirty="0">
                <a:solidFill>
                  <a:srgbClr val="FFFFFF"/>
                </a:solidFill>
                <a:latin typeface="Microsoft YaHei"/>
                <a:ea typeface="Microsoft YaHei"/>
              </a:rPr>
              <a:t>结论与现场 Demo</a:t>
            </a:r>
          </a:p>
        </p:txBody>
      </p:sp>
      <p:sp>
        <p:nvSpPr>
          <p:cNvPr id="4" name=""/>
          <p:cNvSpPr/>
          <p:nvPr/>
        </p:nvSpPr>
        <p:spPr>
          <a:xfrm rot="0" flipH="0" flipV="0">
            <a:off x="384048" y="1572768"/>
            <a:ext cx="3566160" cy="1700784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5" name=""/>
          <p:cNvSpPr txBox="1"/>
          <p:nvPr/>
        </p:nvSpPr>
        <p:spPr>
          <a:xfrm rot="0" flipH="0" flipV="0">
            <a:off x="603504" y="1719072"/>
            <a:ext cx="312724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6" name=""/>
          <p:cNvSpPr txBox="1"/>
          <p:nvPr/>
        </p:nvSpPr>
        <p:spPr>
          <a:xfrm rot="0" flipH="0" flipV="0">
            <a:off x="603504" y="1975104"/>
            <a:ext cx="312724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700" b="1" dirty="0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</a:p>
        </p:txBody>
      </p:sp>
      <p:sp>
        <p:nvSpPr>
          <p:cNvPr id="7" name=""/>
          <p:cNvSpPr txBox="1"/>
          <p:nvPr/>
        </p:nvSpPr>
        <p:spPr>
          <a:xfrm rot="0" flipH="0" flipV="0">
            <a:off x="603504" y="2395728"/>
            <a:ext cx="312724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200" b="0" dirty="0">
                <a:solidFill>
                  <a:srgbClr val="1A2230"/>
                </a:solidFill>
                <a:latin typeface="Microsoft YaHei"/>
                <a:ea typeface="Microsoft YaHei"/>
              </a:rPr>
              <a:t>观测结果能否直接当作可靠证据？</a:t>
            </a:r>
          </a:p>
        </p:txBody>
      </p:sp>
      <p:sp>
        <p:nvSpPr>
          <p:cNvPr id="8" name=""/>
          <p:cNvSpPr/>
          <p:nvPr/>
        </p:nvSpPr>
        <p:spPr>
          <a:xfrm rot="0" flipH="0" flipV="0">
            <a:off x="4315968" y="1572768"/>
            <a:ext cx="3566160" cy="1700784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9" name=""/>
          <p:cNvSpPr txBox="1"/>
          <p:nvPr/>
        </p:nvSpPr>
        <p:spPr>
          <a:xfrm rot="0" flipH="0" flipV="0">
            <a:off x="4535424" y="1719072"/>
            <a:ext cx="312724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"/>
          <p:cNvSpPr txBox="1"/>
          <p:nvPr/>
        </p:nvSpPr>
        <p:spPr>
          <a:xfrm rot="0" flipH="0" flipV="0">
            <a:off x="4535424" y="1975104"/>
            <a:ext cx="312724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700" b="1" dirty="0">
                <a:solidFill>
                  <a:srgbClr val="1E4FA8"/>
                </a:solidFill>
                <a:latin typeface="Microsoft YaHei"/>
                <a:ea typeface="Microsoft YaHei"/>
              </a:rPr>
              <a:t>模型</a:t>
            </a:r>
          </a:p>
        </p:txBody>
      </p:sp>
      <p:sp>
        <p:nvSpPr>
          <p:cNvPr id="11" name=""/>
          <p:cNvSpPr txBox="1"/>
          <p:nvPr/>
        </p:nvSpPr>
        <p:spPr>
          <a:xfrm rot="0" flipH="0" flipV="0">
            <a:off x="4535424" y="2395728"/>
            <a:ext cx="312724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200" b="0" dirty="0">
                <a:solidFill>
                  <a:srgbClr val="1A2230"/>
                </a:solidFill>
                <a:latin typeface="Microsoft YaHei"/>
                <a:ea typeface="Microsoft YaHei"/>
              </a:rPr>
              <a:t>原始表现 → 证据可靠性 → 证据支持 → 决策</a:t>
            </a:r>
          </a:p>
        </p:txBody>
      </p:sp>
      <p:sp>
        <p:nvSpPr>
          <p:cNvPr id="12" name=""/>
          <p:cNvSpPr/>
          <p:nvPr/>
        </p:nvSpPr>
        <p:spPr>
          <a:xfrm rot="0" flipH="0" flipV="0">
            <a:off x="8247888" y="1572768"/>
            <a:ext cx="3566160" cy="1700784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</a:ln>
        </p:spPr>
        <p:txBody>
          <a:bodyPr/>
          <a:p/>
        </p:txBody>
      </p:sp>
      <p:sp>
        <p:nvSpPr>
          <p:cNvPr id="13" name=""/>
          <p:cNvSpPr txBox="1"/>
          <p:nvPr/>
        </p:nvSpPr>
        <p:spPr>
          <a:xfrm rot="0" flipH="0" flipV="0">
            <a:off x="8467344" y="1719072"/>
            <a:ext cx="312724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en-US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4" name=""/>
          <p:cNvSpPr txBox="1"/>
          <p:nvPr/>
        </p:nvSpPr>
        <p:spPr>
          <a:xfrm rot="0" flipH="0" flipV="0">
            <a:off x="8467344" y="1975104"/>
            <a:ext cx="312724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700" b="1" dirty="0">
                <a:solidFill>
                  <a:srgbClr val="1E4FA8"/>
                </a:solidFill>
                <a:latin typeface="Microsoft YaHei"/>
                <a:ea typeface="Microsoft YaHei"/>
              </a:rPr>
              <a:t>结果</a:t>
            </a:r>
          </a:p>
        </p:txBody>
      </p:sp>
      <p:sp>
        <p:nvSpPr>
          <p:cNvPr id="15" name=""/>
          <p:cNvSpPr txBox="1"/>
          <p:nvPr/>
        </p:nvSpPr>
        <p:spPr>
          <a:xfrm rot="0" flipH="0" flipV="0">
            <a:off x="8467344" y="2395728"/>
            <a:ext cx="312724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200" b="0" dirty="0">
                <a:solidFill>
                  <a:srgbClr val="1A2230"/>
                </a:solidFill>
                <a:latin typeface="Microsoft YaHei"/>
                <a:ea typeface="Microsoft YaHei"/>
              </a:rPr>
              <a:t>分数不变；支持 16 → 6</a:t>
            </a:r>
          </a:p>
        </p:txBody>
      </p:sp>
      <p:sp>
        <p:nvSpPr>
          <p:cNvPr id="16" name=""/>
          <p:cNvSpPr/>
          <p:nvPr/>
        </p:nvSpPr>
        <p:spPr>
          <a:xfrm rot="0" flipH="0" flipV="0">
            <a:off x="384048" y="3493008"/>
            <a:ext cx="11430000" cy="1389888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384048" y="3493008"/>
            <a:ext cx="50292" cy="1389888"/>
          </a:xfrm>
          <a:prstGeom prst="rect">
            <a:avLst/>
          </a:prstGeom>
          <a:solidFill>
            <a:srgbClr val="1E4FA8"/>
          </a:solidFill>
          <a:ln>
            <a:noFill/>
          </a:ln>
        </p:spPr>
        <p:txBody>
          <a:bodyPr/>
          <a:p/>
        </p:txBody>
      </p:sp>
      <p:sp>
        <p:nvSpPr>
          <p:cNvPr id="18" name=""/>
          <p:cNvSpPr txBox="1"/>
          <p:nvPr/>
        </p:nvSpPr>
        <p:spPr>
          <a:xfrm rot="0" flipH="0" flipV="0">
            <a:off x="713232" y="3694176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2100" b="1" dirty="0">
                <a:solidFill>
                  <a:srgbClr val="1A2230"/>
                </a:solidFill>
                <a:latin typeface="Microsoft YaHei"/>
                <a:ea typeface="Microsoft YaHei"/>
              </a:rPr>
              <a:t>我们真正增加的，不是一个更高的分数，</a:t>
            </a:r>
          </a:p>
          <a:p>
            <a:pPr algn="l">
              <a:lnSpc>
                <a:spcPct val="105000"/>
              </a:lnSpc>
            </a:pPr>
            <a:r>
              <a:rPr lang="zh-CN" sz="2100" b="1" dirty="0">
                <a:solidFill>
                  <a:srgbClr val="0E3F8C"/>
                </a:solidFill>
                <a:latin typeface="Microsoft YaHei"/>
                <a:ea typeface="Microsoft YaHei"/>
              </a:rPr>
              <a:t>而是让模型知道：什么时候证据不够。</a:t>
            </a:r>
          </a:p>
        </p:txBody>
      </p:sp>
      <p:sp>
        <p:nvSpPr>
          <p:cNvPr id="19" name=""/>
          <p:cNvSpPr txBox="1"/>
          <p:nvPr/>
        </p:nvSpPr>
        <p:spPr>
          <a:xfrm rot="0" flipH="0" flipV="0">
            <a:off x="384048" y="5047488"/>
            <a:ext cx="11430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1400" b="1" dirty="0">
                <a:solidFill>
                  <a:srgbClr val="1E4FA8"/>
                </a:solidFill>
                <a:latin typeface="Microsoft YaHei"/>
                <a:ea typeface="Microsoft YaHei"/>
              </a:rPr>
              <a:t>现场 Demo：离线展示页 + 冻结图 F1–F6</a:t>
            </a:r>
          </a:p>
          <a:p>
            <a:pPr algn="l">
              <a:lnSpc>
                <a:spcPct val="105000"/>
              </a:lnSpc>
            </a:pPr>
            <a:r>
              <a:rPr lang="zh-CN" sz="1000" b="0" dirty="0">
                <a:solidFill>
                  <a:srgbClr val="8B97A8"/>
                </a:solidFill>
                <a:latin typeface="Microsoft YaHei"/>
                <a:ea typeface="Microsoft YaHei"/>
              </a:rPr>
              <a:t>（不依赖网络，断网可讲）</a:t>
            </a:r>
          </a:p>
        </p:txBody>
      </p:sp>
      <p:sp>
        <p:nvSpPr>
          <p:cNvPr id="20" name=""/>
          <p:cNvSpPr txBox="1"/>
          <p:nvPr/>
        </p:nvSpPr>
        <p:spPr>
          <a:xfrm rot="0" flipH="0" flipV="0">
            <a:off x="384048" y="5742432"/>
            <a:ext cx="114300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状态：</a:t>
            </a: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AI 临时标注</a:t>
            </a:r>
            <a:r>
              <a:rPr lang="en-US" sz="800" b="0" dirty="0">
                <a:solidFill>
                  <a:srgbClr val="8B97A8"/>
                </a:solidFill>
                <a:latin typeface="Microsoft YaHei"/>
                <a:ea typeface="Microsoft YaHei"/>
              </a:rPr>
              <a:t> AI_PROVISIONAL</a:t>
            </a: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 · 仅开发阶段</a:t>
            </a:r>
            <a:r>
              <a:rPr lang="en-US" sz="800" b="0" dirty="0">
                <a:solidFill>
                  <a:srgbClr val="8B97A8"/>
                </a:solidFill>
                <a:latin typeface="Microsoft YaHei"/>
                <a:ea typeface="Microsoft YaHei"/>
              </a:rPr>
              <a:t> DEVELOPMENT_ONLY</a:t>
            </a:r>
            <a:r>
              <a:rPr lang="zh-CN" sz="950" b="0" dirty="0">
                <a:solidFill>
                  <a:srgbClr val="8B97A8"/>
                </a:solidFill>
                <a:latin typeface="Microsoft YaHei"/>
                <a:ea typeface="Microsoft YaHei"/>
              </a:rPr>
              <a:t> · 尚未人工验证</a:t>
            </a:r>
            <a:r>
              <a:rPr lang="en-US" sz="800" b="0" dirty="0">
                <a:solidFill>
                  <a:srgbClr val="8B97A8"/>
                </a:solidFill>
                <a:latin typeface="Microsoft YaHei"/>
                <a:ea typeface="Microsoft YaHei"/>
              </a:rPr>
              <a:t> NOT_HUMAN_VALIDATED</a:t>
            </a:r>
          </a:p>
        </p:txBody>
      </p:sp>
      <p:sp>
        <p:nvSpPr>
          <p:cNvPr id="21" name=""/>
          <p:cNvSpPr txBox="1"/>
          <p:nvPr/>
        </p:nvSpPr>
        <p:spPr>
          <a:xfrm rot="0" flipH="0" flipV="0">
            <a:off x="384048" y="6419088"/>
            <a:ext cx="7863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05000"/>
              </a:lnSpc>
            </a:pPr>
            <a:r>
              <a:rPr lang="zh-CN" sz="900" b="0" dirty="0">
                <a:solidFill>
                  <a:srgbClr val="8B97A8"/>
                </a:solidFill>
                <a:latin typeface="Microsoft YaHei"/>
                <a:ea typeface="Microsoft YaHei"/>
              </a:rPr>
              <a:t>起名困难队 · 张镇源</a:t>
            </a:r>
          </a:p>
        </p:txBody>
      </p:sp>
      <p:sp>
        <p:nvSpPr>
          <p:cNvPr id="22" name=""/>
          <p:cNvSpPr txBox="1"/>
          <p:nvPr/>
        </p:nvSpPr>
        <p:spPr>
          <a:xfrm rot="0" flipH="0" flipV="0">
            <a:off x="11356848" y="6419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lnSpc>
                <a:spcPct val="105000"/>
              </a:lnSpc>
            </a:pPr>
            <a:r>
              <a:rPr lang="zh-CN" sz="1000" b="0" dirty="0">
                <a:solidFill>
                  <a:srgbClr val="0E3F8C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2026-09-27T02:46:32Z</dcterms:created>
  <dcterms:modified xsi:type="dcterms:W3CDTF">2026-09-27T02:46:32Z</dcterms:modified>
</cp:coreProperties>
</file>